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f9420660554b9f" /><Relationship Type="http://schemas.openxmlformats.org/officeDocument/2006/relationships/extended-properties" Target="/docProps/app.xml" Id="R069d85ec973848b3" /><Relationship Type="http://schemas.openxmlformats.org/officeDocument/2006/relationships/officeDocument" Target="/ppt/presentation.xml" Id="Rf18e010aa59440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3c35db5c5044a8"/>
  </p:sldMasterIdLst>
  <p:notesMasterIdLst>
    <p:notesMasterId xmlns:r="http://schemas.openxmlformats.org/officeDocument/2006/relationships" r:id="R4ed92137c6fa4225"/>
  </p:notesMasterIdLst>
  <p:sldIdLst>
    <p:sldId xmlns:r="http://schemas.openxmlformats.org/officeDocument/2006/relationships" id="256" r:id="Rd657f942dc9c4026"/>
    <p:sldId xmlns:r="http://schemas.openxmlformats.org/officeDocument/2006/relationships" id="257" r:id="R2da4357501f44091"/>
    <p:sldId xmlns:r="http://schemas.openxmlformats.org/officeDocument/2006/relationships" id="258" r:id="R5420033ee7f24f06"/>
    <p:sldId xmlns:r="http://schemas.openxmlformats.org/officeDocument/2006/relationships" id="259" r:id="R53dd8fc250e74af3"/>
    <p:sldId xmlns:r="http://schemas.openxmlformats.org/officeDocument/2006/relationships" id="260" r:id="Rd797c0c634f549fc"/>
    <p:sldId xmlns:r="http://schemas.openxmlformats.org/officeDocument/2006/relationships" id="261" r:id="Re4957f3a8d214491"/>
    <p:sldId xmlns:r="http://schemas.openxmlformats.org/officeDocument/2006/relationships" id="262" r:id="R277420b71baf4c69"/>
    <p:sldId xmlns:r="http://schemas.openxmlformats.org/officeDocument/2006/relationships" id="263" r:id="Re43d835b740d45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6347e1ead496a" /><Relationship Type="http://schemas.openxmlformats.org/officeDocument/2006/relationships/slideMaster" Target="/ppt/slideMasters/slideMaster1.xml" Id="Rdd3c35db5c5044a8" /><Relationship Type="http://schemas.openxmlformats.org/officeDocument/2006/relationships/notesMaster" Target="/ppt/notesMasters/notesMaster1.xml" Id="R4ed92137c6fa4225" /><Relationship Type="http://schemas.openxmlformats.org/officeDocument/2006/relationships/presProps" Target="/ppt/presProps.xml" Id="R5bb615488dd9436f" /><Relationship Type="http://schemas.openxmlformats.org/officeDocument/2006/relationships/tableStyles" Target="/ppt/tableStyles.xml" Id="R6a06034bce654a72" /><Relationship Type="http://schemas.openxmlformats.org/officeDocument/2006/relationships/slide" Target="/ppt/slides/slide1.xml" Id="Rd657f942dc9c4026" /><Relationship Type="http://schemas.openxmlformats.org/officeDocument/2006/relationships/slide" Target="/ppt/slides/slide2.xml" Id="R2da4357501f44091" /><Relationship Type="http://schemas.openxmlformats.org/officeDocument/2006/relationships/slide" Target="/ppt/slides/slide3.xml" Id="R5420033ee7f24f06" /><Relationship Type="http://schemas.openxmlformats.org/officeDocument/2006/relationships/slide" Target="/ppt/slides/slide4.xml" Id="R53dd8fc250e74af3" /><Relationship Type="http://schemas.openxmlformats.org/officeDocument/2006/relationships/slide" Target="/ppt/slides/slide5.xml" Id="Rd797c0c634f549fc" /><Relationship Type="http://schemas.openxmlformats.org/officeDocument/2006/relationships/slide" Target="/ppt/slides/slide6.xml" Id="Re4957f3a8d214491" /><Relationship Type="http://schemas.openxmlformats.org/officeDocument/2006/relationships/slide" Target="/ppt/slides/slide7.xml" Id="R277420b71baf4c69" /><Relationship Type="http://schemas.openxmlformats.org/officeDocument/2006/relationships/slide" Target="/ppt/slides/slide8.xml" Id="Re43d835b740d45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6369eb00448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3cef1ebdb4b4b" /><Relationship Type="http://schemas.openxmlformats.org/officeDocument/2006/relationships/notesMaster" Target="/ppt/notesMasters/notesMaster1.xml" Id="R43bfe0ea7c3246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e4911efa534bc9" /><Relationship Type="http://schemas.openxmlformats.org/officeDocument/2006/relationships/notesMaster" Target="/ppt/notesMasters/notesMaster1.xml" Id="R3366f063be1e43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fa664bf75d4643" /><Relationship Type="http://schemas.openxmlformats.org/officeDocument/2006/relationships/notesMaster" Target="/ppt/notesMasters/notesMaster1.xml" Id="R7d80287cf589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e08fe7bda34ffb" /><Relationship Type="http://schemas.openxmlformats.org/officeDocument/2006/relationships/notesMaster" Target="/ppt/notesMasters/notesMaster1.xml" Id="Re07fdac25cdb47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6a55a5f78f4cd8" /><Relationship Type="http://schemas.openxmlformats.org/officeDocument/2006/relationships/notesMaster" Target="/ppt/notesMasters/notesMaster1.xml" Id="R2078c1af90e645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530bbed1cf4834" /><Relationship Type="http://schemas.openxmlformats.org/officeDocument/2006/relationships/notesMaster" Target="/ppt/notesMasters/notesMaster1.xml" Id="Rc730e38f9a7e48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387e6daa3a422f" /><Relationship Type="http://schemas.openxmlformats.org/officeDocument/2006/relationships/notesMaster" Target="/ppt/notesMasters/notesMaster1.xml" Id="Rd4bd2982f0cc43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ba26fd03564724" /><Relationship Type="http://schemas.openxmlformats.org/officeDocument/2006/relationships/notesMaster" Target="/ppt/notesMasters/notesMaster1.xml" Id="R8f59ec4492aa4d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封面：展示当前 A17 项目实际效果。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项目状态总览。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GYU-DET 实际类别和转换后的 A17 类别。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完整训练配置参数。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测试集整体指标。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按类别评估结果。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可视化检测结果。左侧为总览，右侧为单张示例。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当前差距和下一步。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5984f4ee44f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9a7e4ce50145db" /><Relationship Type="http://schemas.openxmlformats.org/officeDocument/2006/relationships/slideLayout" Target="/ppt/slideLayouts/slideLayout1.xml" Id="Rc156ab1914ca41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56ab1914ca41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f41fb072f4c89" /><Relationship Type="http://schemas.openxmlformats.org/officeDocument/2006/relationships/notesSlide" Target="/ppt/notesSlides/notesSlide1.xml" Id="Ra4b6e397c840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2f8c0e1274259" /><Relationship Type="http://schemas.openxmlformats.org/officeDocument/2006/relationships/notesSlide" Target="/ppt/notesSlides/notesSlide2.xml" Id="Ra04988ccc81a42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fb89d5e4344df" /><Relationship Type="http://schemas.openxmlformats.org/officeDocument/2006/relationships/notesSlide" Target="/ppt/notesSlides/notesSlide3.xml" Id="R8f57c6d8ce61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3a5f8466746c8" /><Relationship Type="http://schemas.openxmlformats.org/officeDocument/2006/relationships/notesSlide" Target="/ppt/notesSlides/notesSlide4.xml" Id="R05e21845e45346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f4fca7a2c46b6" /><Relationship Type="http://schemas.openxmlformats.org/officeDocument/2006/relationships/notesSlide" Target="/ppt/notesSlides/notesSlide5.xml" Id="R7f4437bdf19342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4d9ef03494fbc" /><Relationship Type="http://schemas.openxmlformats.org/officeDocument/2006/relationships/notesSlide" Target="/ppt/notesSlides/notesSlide6.xml" Id="R8dfc555dc6bb44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30dfaab1542df" /><Relationship Type="http://schemas.openxmlformats.org/officeDocument/2006/relationships/image" Target="/ppt/media/image.jpeg" Id="R50c6275e6565409f" /><Relationship Type="http://schemas.openxmlformats.org/officeDocument/2006/relationships/image" Target="/ppt/media/image2.jpeg" Id="R60696dcad7a74530" /><Relationship Type="http://schemas.openxmlformats.org/officeDocument/2006/relationships/image" Target="/ppt/media/image3.jpeg" Id="Re6376d9c8e334a47" /><Relationship Type="http://schemas.openxmlformats.org/officeDocument/2006/relationships/notesSlide" Target="/ppt/notesSlides/notesSlide7.xml" Id="R30e2abad1d1f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874429d024cf2" /><Relationship Type="http://schemas.openxmlformats.org/officeDocument/2006/relationships/notesSlide" Target="/ppt/notesSlides/notesSlide8.xml" Id="R4494f1eee1f844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ABBFB-A37B-415F-8FF3-3A6D0901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3C1BB-F423-4852-A7AD-F3E3E118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57290-1B2A-47C2-A568-D69F82AF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A17 当前效果汇报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98D31-5C90-4184-A5AB-6C455413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rPr>
              <a:t>数据、模型、指标与检测结果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94BB5-390C-4B8B-8D5B-D6E9B0E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FB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5C9"/>
                </a:solidFill>
                <a:latin typeface="Microsoft YaHei"/>
                <a:ea typeface="Microsoft YaHei"/>
                <a:cs typeface="Microsoft YaHei"/>
              </a:rPr>
              <a:t>基于 GYU-DET 完整数据的 YOLO11n 检测基线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92917-E0DE-4585-9AC4-542D219A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项目组  |  2026-10-09</a:t>
            </a:r>
          </a:p>
        </p:txBody>
      </p:sp>
    </p:spTree>
    <p:extLst>
      <p:ext uri="{BB962C8B-B14F-4D97-AF65-F5344CB8AC3E}">
        <p14:creationId xmlns:p14="http://schemas.microsoft.com/office/powerpoint/2010/main" val="317640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2098F-317F-402F-AC5D-8E7F6CC8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当前项目状态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495CA-3AB6-4E40-A359-AB5DEDA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从数据处理到检测模型已经跑通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B0644-1385-4F42-A604-4261BC12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5052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70E36-5CB8-4B67-AABF-B1C9C1F5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89E06-31B0-4DC3-A98F-3D39908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完整转换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502F9-E9D0-4A13-914F-9C3ADBDC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GYU-DET 8,898 / 1,112 / 1,113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94D2B-319B-4C2C-9A7E-D0B420EF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5052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3EEDC-BEC0-4EF7-8F46-0100575B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CD27A-B72C-44EE-904F-6F372B58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YOLO11n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C3350-6FBA-4C19-A4C8-53D453F9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50 epochs，imgsz 640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B9C25-0145-428C-BF7F-B71FF09C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5052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9F71C-514D-4C37-AD3E-59FADE5C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26117-7960-435D-9A5E-1A2E0ECC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测试集完成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27F38-A6CA-4E41-AEBE-CA1F7C85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mAP、FPS、分类别指标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8A1C3-8214-4AA1-809D-13FC5C56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C8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E2C51-5E94-4784-A012-AF7EFE8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已经完成：环境安装、数据映射、完整数据转换、YOLO检测基线训练、测试集评测、可视化推理。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7C263-2F8B-419E-81B0-6441656B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尚未完成：dacl10k 分割基线、物理量化模块、Demo 界面。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649BD-4AF0-463B-9200-9636B59E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当前效果汇报  |  02</a:t>
            </a:r>
          </a:p>
        </p:txBody>
      </p:sp>
    </p:spTree>
    <p:extLst>
      <p:ext uri="{BB962C8B-B14F-4D97-AF65-F5344CB8AC3E}">
        <p14:creationId xmlns:p14="http://schemas.microsoft.com/office/powerpoint/2010/main" val="15326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20807-DFEC-48FE-985A-7012A40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数据与类别映射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6D720-C551-4382-9EDA-DF7AC447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GYU-DET 完整数据已转换为统一三类别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5905500" cy="32385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1714500"/>
                <a:gridCol w="1809750"/>
                <a:gridCol w="23812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源类别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A17 类别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混凝土裂缝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Breakage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spalling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剥落或掉块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Reinforcement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exposed_rebar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钢筋裸露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honeycomb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蜂窝面，第二阶段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honeycomb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孔洞，第二阶段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Seepage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efflorescence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泛碱或渗水，第二阶段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469C5-7E4B-4B00-99C2-105A9C85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28750"/>
            <a:ext cx="46482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9E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AA9AA-69C2-4D59-A79C-2DFEA122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0C31B-BDE9-4A3A-8B5A-E5AC1D81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训练集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3064D-A33B-4836-84A2-22B8FBA3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rPr>
              <a:t>8,898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FA4A6-5558-461D-A76D-A4DC3BB6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29BD8-1950-4B59-908A-32DBFA29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rPr>
              <a:t>1,112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AF348-4CB2-4466-8104-BE156E93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8950F-7B7A-41CD-9DA1-B27908B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rPr>
              <a:t>1,113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18748-B710-4C45-9331-C658B31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阶段类别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8AFE3-3E5D-4C26-B310-2DBE50A8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36B11-4B93-4D88-8EC7-F45E50AA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当前效果汇报  |  03</a:t>
            </a:r>
          </a:p>
        </p:txBody>
      </p:sp>
    </p:spTree>
    <p:extLst>
      <p:ext uri="{BB962C8B-B14F-4D97-AF65-F5344CB8AC3E}">
        <p14:creationId xmlns:p14="http://schemas.microsoft.com/office/powerpoint/2010/main" val="310594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0CEE9-3C59-40BD-A1F7-5D73EF1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训练配置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E7511-8857-47D2-AAA6-3E1018C9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完整数据 YOLO 检测基线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209CF-53F8-43CF-B397-1424CD75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06B9A-7821-45D5-A999-1C74DD88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08EA7-F49D-4EA5-8E71-73FF7A5F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YOLO11n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3DFFE-9B8E-4165-B293-58D78ACB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DDD5D-3ED8-4DB1-88C2-30E6ABDA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B92CA-0949-4EC3-B71A-558509A5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detect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F1EEF-74D0-43A3-9F2C-87E39B5E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7EA88-E5BA-4947-BBB6-FC37310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轮数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0AD0A-0B81-4129-804C-4E48ECD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50 epochs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21460-5E6F-4D98-8A38-1926080F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1CA60-F90F-45A0-9CBE-AC5F440E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分辨率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9FC0B-5000-4EF6-B126-70F64851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640 x 640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64CAA-8EC5-4C59-ADAE-11F4D649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E9ABE-F009-4E3C-A2AA-35769A04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Batch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D3CFF-3798-4BD6-9A33-BDC24B89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91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35CF4-7720-4958-81A3-141D6A0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00500"/>
            <a:ext cx="525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4A057-D440-44DC-869C-637F891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DA364-9D2B-492B-B020-CCDB1A3A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RTX 5060 Laptop GPU，CUDA 12.8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5E775-A97C-4BBC-B6B7-2FA78B04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预训练权重 yolo11n.pt；AMP 自动混合精度；训练和验证同步进行。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90CD8-4173-4B11-B2A1-1F60AB60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当前效果汇报  |  04</a:t>
            </a:r>
          </a:p>
        </p:txBody>
      </p:sp>
    </p:spTree>
    <p:extLst>
      <p:ext uri="{BB962C8B-B14F-4D97-AF65-F5344CB8AC3E}">
        <p14:creationId xmlns:p14="http://schemas.microsoft.com/office/powerpoint/2010/main" val="2130544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4EAE6-76C9-48E1-841C-5EFE514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测试集整体指标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83B06-45AA-427D-A2D8-F0C6E6B6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mAP、Precision、Recall 和 FPS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96EBD-D5F1-44EC-85CE-14221446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B7803-99D0-4C2B-8EB9-FB6F1E6D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0.343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2FC85-AA92-481E-8A1D-AB8412C5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mAP@0.5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768FD-54B4-44B5-9A10-7C69F81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FF005-43AB-4BD2-AEA3-9CE75ECD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0.182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7A34D-FE8C-4521-A32C-B9381CF3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mAP@0.5:0.95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3169A-E3E6-4817-8478-B7273B17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91C39-7BAA-481F-8705-10A24FFB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0.464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B7CAC-BA3A-4105-BC37-E7D76C99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755C4-E8BC-4C1C-9425-2AB49A2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D70EB-DFBF-4796-8316-53A957C9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0.363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68701-991E-490D-A0A2-58AB651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21019-A0CE-42E6-9B58-5ABC443C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12B46"/>
          </a:solidFill>
          <a:ln xmlns:a="http://schemas.openxmlformats.org/drawingml/2006/main" w="9525">
            <a:solidFill>
              <a:srgbClr val="112B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11B0A-9948-4153-8510-F04A45E7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推理速度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06F6D-6F8F-4B36-B658-97857545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rPr>
              <a:t>Inference 1.97 ms  ·  Preprocess 0.66 ms  ·  Postprocess 0.93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D6820-B343-43F0-B120-52DC0C8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8CD7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D7C1"/>
                </a:solidFill>
                <a:latin typeface="Microsoft YaHei"/>
                <a:ea typeface="Microsoft YaHei"/>
                <a:cs typeface="Microsoft YaHei"/>
              </a:rPr>
              <a:t>FPS ≈ 507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C7ABB-CF62-4BAF-83E1-623089AA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当前效果汇报  |  05</a:t>
            </a:r>
          </a:p>
        </p:txBody>
      </p:sp>
    </p:spTree>
    <p:extLst>
      <p:ext uri="{BB962C8B-B14F-4D97-AF65-F5344CB8AC3E}">
        <p14:creationId xmlns:p14="http://schemas.microsoft.com/office/powerpoint/2010/main" val="1196522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72716-3CAA-44FC-83C3-CEF5E79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分类别指标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43950-2F17-45A4-B49D-21D9ED7F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暴露钢筋最好，剥落仍是短板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3429000"/>
                <a:gridCol w="1905000"/>
                <a:gridCol w="1905000"/>
                <a:gridCol w="19050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mAP@0.5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mAP@0.5:0.95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 裂缝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spalling 剥落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0.404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0.187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0.197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0.082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exposed_rebar 钢筋裸露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28ADF-825A-4284-8255-606B5733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F2DC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55A69-3F64-4772-A362-5CC54388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改进方向：spalling 召回偏低，建议提高 imgsz 到 1024、换 yolo11s、增加训练轮数。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DDE3C-363C-45CB-ACA3-19BF2386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当前效果汇报  |  06</a:t>
            </a:r>
          </a:p>
        </p:txBody>
      </p:sp>
    </p:spTree>
    <p:extLst>
      <p:ext uri="{BB962C8B-B14F-4D97-AF65-F5344CB8AC3E}">
        <p14:creationId xmlns:p14="http://schemas.microsoft.com/office/powerpoint/2010/main" val="1837304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A3785-0B46-4DF7-9E79-9B83BD28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实际检测效果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CC647-EC71-4645-BF82-48316BD1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测试集样本的可视化结果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6275e6565409f"/>
          <a:stretch xmlns:a="http://schemas.openxmlformats.org/drawingml/2006/main"/>
        </p:blipFill>
        <p:spPr>
          <a:xfrm xmlns:a="http://schemas.openxmlformats.org/drawingml/2006/main">
            <a:off x="609600" y="1770518"/>
            <a:ext cx="7524750" cy="3793214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96dcad7a74530"/>
          <a:stretch xmlns:a="http://schemas.openxmlformats.org/drawingml/2006/main"/>
        </p:blipFill>
        <p:spPr>
          <a:xfrm xmlns:a="http://schemas.openxmlformats.org/drawingml/2006/main">
            <a:off x="8696325" y="1428750"/>
            <a:ext cx="2667000" cy="20002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76d9c8e334a47"/>
          <a:stretch xmlns:a="http://schemas.openxmlformats.org/drawingml/2006/main"/>
        </p:blipFill>
        <p:spPr>
          <a:xfrm xmlns:a="http://schemas.openxmlformats.org/drawingml/2006/main">
            <a:off x="8569325" y="3714750"/>
            <a:ext cx="2921000" cy="2190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BF5C7-6580-45B1-96D3-60C9035C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当前效果汇报  |  07</a:t>
            </a:r>
          </a:p>
        </p:txBody>
      </p:sp>
    </p:spTree>
    <p:extLst>
      <p:ext uri="{BB962C8B-B14F-4D97-AF65-F5344CB8AC3E}">
        <p14:creationId xmlns:p14="http://schemas.microsoft.com/office/powerpoint/2010/main" val="2067557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64004-B468-4F85-9AEC-C6220E2A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当前局限与下一步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37258-8549-4AA0-9541-F8C348D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先提升精度，再完成分割和量化闭环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52D57-5B1E-4414-8387-F1688D03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578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76AA8-BEE3-4D5F-99E3-2A6502D1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精度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F85BC-BD24-476D-BA1F-C9D9A73E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spalling mAP@0.5 仅 0.197，小目标和细小裂缝仍漏检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FBB6E-EDDB-42FD-85AD-B6EB8FB7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换 yolo11s + imgsz 1024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11FBF-85CE-421B-AB73-893FF43A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2578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9F1C8-4B7A-4E64-A355-46A0C13C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分割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BFA24-2162-4849-B316-ADBC7501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GYU-DET 只有检测框，尚未训练 YOLO-seg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21E03-DBF6-49B2-8C8A-B7FA49D6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下载 dacl10k 后训练分割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54026-C93E-4863-BD50-595D0278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9F6E3-ED64-4DB8-A41A-BD6DF50B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量化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7BA4E-439F-4D03-892B-080D3E3E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尚未实现裂缝长度、宽度和像素比例换算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AAA69-B3AA-4D05-B509-74D3FA86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骨架化 + 距离变换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9CFC8-18C2-4ED4-BD86-AA29E758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52578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E6DA0-FE26-4FB0-8D40-492B1A1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A26AE-2F39-4958-87A6-A3F4DDF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目前只有命令行，没有图形界面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96035-74B6-4112-B7AE-A0872BB3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Streamlit 或 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7AA7C-EE3C-4818-B89C-22592D2B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建议下一动作：yolo11s + imgsz 1024 + 100 epochs，同时并行实现量化模块。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2AE83-81AF-4CFE-B9CD-DBA45616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当前效果汇报  |  08</a:t>
            </a:r>
          </a:p>
        </p:txBody>
      </p:sp>
    </p:spTree>
    <p:extLst>
      <p:ext uri="{BB962C8B-B14F-4D97-AF65-F5344CB8AC3E}">
        <p14:creationId xmlns:p14="http://schemas.microsoft.com/office/powerpoint/2010/main" val="558022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2026-10-09T12:29:03.9890000Z</dcterms:created>
  <dcterms:modified xsi:type="dcterms:W3CDTF">2026-10-09T12:29:03.9890000Z</dcterms:modified>
</coreProperties>
</file>