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32de346287470a" /><Relationship Type="http://schemas.openxmlformats.org/officeDocument/2006/relationships/extended-properties" Target="/docProps/app.xml" Id="Rcb90a4d4d3ae4a3e" /><Relationship Type="http://schemas.openxmlformats.org/officeDocument/2006/relationships/officeDocument" Target="/ppt/presentation.xml" Id="R887a462c91a746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c754b17d524e1b"/>
  </p:sldMasterIdLst>
  <p:notesMasterIdLst>
    <p:notesMasterId xmlns:r="http://schemas.openxmlformats.org/officeDocument/2006/relationships" r:id="R39df0774fecb41b3"/>
  </p:notesMasterIdLst>
  <p:sldIdLst>
    <p:sldId xmlns:r="http://schemas.openxmlformats.org/officeDocument/2006/relationships" id="256" r:id="R5d853e7093ff4374"/>
    <p:sldId xmlns:r="http://schemas.openxmlformats.org/officeDocument/2006/relationships" id="257" r:id="Rda4826fa94da4de5"/>
    <p:sldId xmlns:r="http://schemas.openxmlformats.org/officeDocument/2006/relationships" id="258" r:id="R03dbb67490134aa9"/>
    <p:sldId xmlns:r="http://schemas.openxmlformats.org/officeDocument/2006/relationships" id="259" r:id="R9d447f204eb64e55"/>
    <p:sldId xmlns:r="http://schemas.openxmlformats.org/officeDocument/2006/relationships" id="260" r:id="R09610c6c2a804688"/>
    <p:sldId xmlns:r="http://schemas.openxmlformats.org/officeDocument/2006/relationships" id="261" r:id="R7488a9ad6101427c"/>
    <p:sldId xmlns:r="http://schemas.openxmlformats.org/officeDocument/2006/relationships" id="262" r:id="R11e23c1116684709"/>
    <p:sldId xmlns:r="http://schemas.openxmlformats.org/officeDocument/2006/relationships" id="263" r:id="R68308ae3c3634323"/>
    <p:sldId xmlns:r="http://schemas.openxmlformats.org/officeDocument/2006/relationships" id="264" r:id="R22647377ee594c40"/>
    <p:sldId xmlns:r="http://schemas.openxmlformats.org/officeDocument/2006/relationships" id="265" r:id="R8e13ea0a069d4bc0"/>
    <p:sldId xmlns:r="http://schemas.openxmlformats.org/officeDocument/2006/relationships" id="266" r:id="R10d8a0502b3948ab"/>
    <p:sldId xmlns:r="http://schemas.openxmlformats.org/officeDocument/2006/relationships" id="267" r:id="Rdf8f1b62b3324e00"/>
    <p:sldId xmlns:r="http://schemas.openxmlformats.org/officeDocument/2006/relationships" id="268" r:id="R29d36bd369784471"/>
    <p:sldId xmlns:r="http://schemas.openxmlformats.org/officeDocument/2006/relationships" id="269" r:id="Rec02b8a194ca4429"/>
    <p:sldId xmlns:r="http://schemas.openxmlformats.org/officeDocument/2006/relationships" id="270" r:id="R81fdab2b50d24a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8c0a22a0b24b79" /><Relationship Type="http://schemas.openxmlformats.org/officeDocument/2006/relationships/slideMaster" Target="/ppt/slideMasters/slideMaster1.xml" Id="R1ec754b17d524e1b" /><Relationship Type="http://schemas.openxmlformats.org/officeDocument/2006/relationships/notesMaster" Target="/ppt/notesMasters/notesMaster1.xml" Id="R39df0774fecb41b3" /><Relationship Type="http://schemas.openxmlformats.org/officeDocument/2006/relationships/presProps" Target="/ppt/presProps.xml" Id="R0cd11ed590fc4c5c" /><Relationship Type="http://schemas.openxmlformats.org/officeDocument/2006/relationships/tableStyles" Target="/ppt/tableStyles.xml" Id="Rfd8d881ac2c84272" /><Relationship Type="http://schemas.openxmlformats.org/officeDocument/2006/relationships/slide" Target="/ppt/slides/slide1.xml" Id="R5d853e7093ff4374" /><Relationship Type="http://schemas.openxmlformats.org/officeDocument/2006/relationships/slide" Target="/ppt/slides/slide2.xml" Id="Rda4826fa94da4de5" /><Relationship Type="http://schemas.openxmlformats.org/officeDocument/2006/relationships/slide" Target="/ppt/slides/slide3.xml" Id="R03dbb67490134aa9" /><Relationship Type="http://schemas.openxmlformats.org/officeDocument/2006/relationships/slide" Target="/ppt/slides/slide4.xml" Id="R9d447f204eb64e55" /><Relationship Type="http://schemas.openxmlformats.org/officeDocument/2006/relationships/slide" Target="/ppt/slides/slide5.xml" Id="R09610c6c2a804688" /><Relationship Type="http://schemas.openxmlformats.org/officeDocument/2006/relationships/slide" Target="/ppt/slides/slide6.xml" Id="R7488a9ad6101427c" /><Relationship Type="http://schemas.openxmlformats.org/officeDocument/2006/relationships/slide" Target="/ppt/slides/slide7.xml" Id="R11e23c1116684709" /><Relationship Type="http://schemas.openxmlformats.org/officeDocument/2006/relationships/slide" Target="/ppt/slides/slide8.xml" Id="R68308ae3c3634323" /><Relationship Type="http://schemas.openxmlformats.org/officeDocument/2006/relationships/slide" Target="/ppt/slides/slide9.xml" Id="R22647377ee594c40" /><Relationship Type="http://schemas.openxmlformats.org/officeDocument/2006/relationships/slide" Target="/ppt/slides/slide10.xml" Id="R8e13ea0a069d4bc0" /><Relationship Type="http://schemas.openxmlformats.org/officeDocument/2006/relationships/slide" Target="/ppt/slides/slide11.xml" Id="R10d8a0502b3948ab" /><Relationship Type="http://schemas.openxmlformats.org/officeDocument/2006/relationships/slide" Target="/ppt/slides/slide12.xml" Id="Rdf8f1b62b3324e00" /><Relationship Type="http://schemas.openxmlformats.org/officeDocument/2006/relationships/slide" Target="/ppt/slides/slide13.xml" Id="R29d36bd369784471" /><Relationship Type="http://schemas.openxmlformats.org/officeDocument/2006/relationships/slide" Target="/ppt/slides/slide14.xml" Id="Rec02b8a194ca4429" /><Relationship Type="http://schemas.openxmlformats.org/officeDocument/2006/relationships/slide" Target="/ppt/slides/slide15.xml" Id="R81fdab2b50d24a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f85ac98e5d4a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c37ffb211c4824" /><Relationship Type="http://schemas.openxmlformats.org/officeDocument/2006/relationships/notesMaster" Target="/ppt/notesMasters/notesMaster1.xml" Id="R9b2c561fb20d48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fa311969504f9c" /><Relationship Type="http://schemas.openxmlformats.org/officeDocument/2006/relationships/notesMaster" Target="/ppt/notesMasters/notesMaster1.xml" Id="R892f6d25664741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ec8a35253f49e9" /><Relationship Type="http://schemas.openxmlformats.org/officeDocument/2006/relationships/notesMaster" Target="/ppt/notesMasters/notesMaster1.xml" Id="R7c4ded280ee541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5932b977ae41f7" /><Relationship Type="http://schemas.openxmlformats.org/officeDocument/2006/relationships/notesMaster" Target="/ppt/notesMasters/notesMaster1.xml" Id="Rbdfb7279437a44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eb8a6ff7134de8" /><Relationship Type="http://schemas.openxmlformats.org/officeDocument/2006/relationships/notesMaster" Target="/ppt/notesMasters/notesMaster1.xml" Id="Rfd58a0b679d14d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9fc4a5d27f475d" /><Relationship Type="http://schemas.openxmlformats.org/officeDocument/2006/relationships/notesMaster" Target="/ppt/notesMasters/notesMaster1.xml" Id="R3030967829044f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cbf21ea16f4182" /><Relationship Type="http://schemas.openxmlformats.org/officeDocument/2006/relationships/notesMaster" Target="/ppt/notesMasters/notesMaster1.xml" Id="R750bde85acae44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ccc3f7295c47ae" /><Relationship Type="http://schemas.openxmlformats.org/officeDocument/2006/relationships/notesMaster" Target="/ppt/notesMasters/notesMaster1.xml" Id="R57b71ec4559e41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02a3f0974b4341" /><Relationship Type="http://schemas.openxmlformats.org/officeDocument/2006/relationships/notesMaster" Target="/ppt/notesMasters/notesMaster1.xml" Id="R3848a07b4e6d43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fe4d64dfa74895" /><Relationship Type="http://schemas.openxmlformats.org/officeDocument/2006/relationships/notesMaster" Target="/ppt/notesMasters/notesMaster1.xml" Id="Rc1f1619c50cb40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e2cb84d60e4252" /><Relationship Type="http://schemas.openxmlformats.org/officeDocument/2006/relationships/notesMaster" Target="/ppt/notesMasters/notesMaster1.xml" Id="R70607313ad654a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985bae945d4d4a" /><Relationship Type="http://schemas.openxmlformats.org/officeDocument/2006/relationships/notesMaster" Target="/ppt/notesMasters/notesMaster1.xml" Id="Rba2e74b660cb46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0807238da242a4" /><Relationship Type="http://schemas.openxmlformats.org/officeDocument/2006/relationships/notesMaster" Target="/ppt/notesMasters/notesMaster1.xml" Id="Rac1defa90f1c4e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337f480adb4207" /><Relationship Type="http://schemas.openxmlformats.org/officeDocument/2006/relationships/notesMaster" Target="/ppt/notesMasters/notesMaster1.xml" Id="Rb8e5b807317446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94202cb7e2471a" /><Relationship Type="http://schemas.openxmlformats.org/officeDocument/2006/relationships/notesMaster" Target="/ppt/notesMasters/notesMaster1.xml" Id="Rf66dbc1ea1e94f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封面：第二、三周工作汇报。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第二周工作概览和产出文件。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数据下载状态表。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标注规范要点。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数据映射流程。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源类别到 A17 内部类别映射。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GYU-DET 数据卡统计。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转换后 YOLO 训练数据集规模。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第三周目标与当前状态。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dacl10k 转 YOLO-seg 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YOLO-seg 训练配置。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 评估方案。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当前进度与计划对照。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风险和下一步。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925aa261d42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ea79dba4614e38" /><Relationship Type="http://schemas.openxmlformats.org/officeDocument/2006/relationships/slideLayout" Target="/ppt/slideLayouts/slideLayout1.xml" Id="Rd7f98f84a6174e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f98f84a6174e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8edf9d9c84da8" /><Relationship Type="http://schemas.openxmlformats.org/officeDocument/2006/relationships/notesSlide" Target="/ppt/notesSlides/notesSlide1.xml" Id="R71e4423969654b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6bf55b38a4723" /><Relationship Type="http://schemas.openxmlformats.org/officeDocument/2006/relationships/notesSlide" Target="/ppt/notesSlides/notesSlide2.xml" Id="Refe1367ac3d645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c182147fb4af5" /><Relationship Type="http://schemas.openxmlformats.org/officeDocument/2006/relationships/notesSlide" Target="/ppt/notesSlides/notesSlide3.xml" Id="R123a3e8276744b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f2a0609cb41bc" /><Relationship Type="http://schemas.openxmlformats.org/officeDocument/2006/relationships/notesSlide" Target="/ppt/notesSlides/notesSlide4.xml" Id="Re8adada2a51249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9d364bd8d48ff" /><Relationship Type="http://schemas.openxmlformats.org/officeDocument/2006/relationships/notesSlide" Target="/ppt/notesSlides/notesSlide5.xml" Id="R113bde72646c44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834973e894b1b" /><Relationship Type="http://schemas.openxmlformats.org/officeDocument/2006/relationships/notesSlide" Target="/ppt/notesSlides/notesSlide6.xml" Id="R4559cbaba32941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c8aaefb924b37" /><Relationship Type="http://schemas.openxmlformats.org/officeDocument/2006/relationships/notesSlide" Target="/ppt/notesSlides/notesSlide7.xml" Id="R111b093daa7c4d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74a0f7d504e8d" /><Relationship Type="http://schemas.openxmlformats.org/officeDocument/2006/relationships/notesSlide" Target="/ppt/notesSlides/notesSlide8.xml" Id="R6ed1a4033beb45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487517ac748ca" /><Relationship Type="http://schemas.openxmlformats.org/officeDocument/2006/relationships/notesSlide" Target="/ppt/notesSlides/notesSlide9.xml" Id="R5e5c454a7d2849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1021cfaff432f" /><Relationship Type="http://schemas.openxmlformats.org/officeDocument/2006/relationships/notesSlide" Target="/ppt/notesSlides/notesSlide10.xml" Id="Rbb92d0a77f1a4e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e55c349584295" /><Relationship Type="http://schemas.openxmlformats.org/officeDocument/2006/relationships/notesSlide" Target="/ppt/notesSlides/notesSlide11.xml" Id="R500127510b2448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2b61df3124461" /><Relationship Type="http://schemas.openxmlformats.org/officeDocument/2006/relationships/notesSlide" Target="/ppt/notesSlides/notesSlide12.xml" Id="Re66fe91cba9949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0ec6cccb549cb" /><Relationship Type="http://schemas.openxmlformats.org/officeDocument/2006/relationships/notesSlide" Target="/ppt/notesSlides/notesSlide13.xml" Id="R83e6a0b29dae49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f2c08f27e408a" /><Relationship Type="http://schemas.openxmlformats.org/officeDocument/2006/relationships/notesSlide" Target="/ppt/notesSlides/notesSlide14.xml" Id="Ra617f0c3756b44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8166a77974e15" /><Relationship Type="http://schemas.openxmlformats.org/officeDocument/2006/relationships/notesSlide" Target="/ppt/notesSlides/notesSlide15.xml" Id="R591770ce1c2543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CF10D-6735-44B7-9AF4-AEEEBAB9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667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4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CE4D9-B79F-4A1E-82AE-C0C567FB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0025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506B1-D424-4218-9C8D-BA5A8F66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A17 第二、三周详细汇报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66845-211B-4590-AECD-F759DB25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C7D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7D8E7"/>
                </a:solidFill>
                <a:latin typeface="Microsoft YaHei"/>
                <a:ea typeface="Microsoft YaHei"/>
                <a:cs typeface="Microsoft YaHei"/>
              </a:rPr>
              <a:t>数据、标注、映射与 YOLO-seg 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B025B-23A6-4B9B-864E-C44DF1AD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9FB5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5C9"/>
                </a:solidFill>
                <a:latin typeface="Microsoft YaHei"/>
                <a:ea typeface="Microsoft YaHei"/>
                <a:cs typeface="Microsoft YaHei"/>
              </a:rPr>
              <a:t>GYU-DET 已落地  ·  dacl10k 待下载  ·  YOLO-seg 待训练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3FB3F-5BB9-498A-AA46-212F30CF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项目组  |  2026-10-10</a:t>
            </a:r>
          </a:p>
        </p:txBody>
      </p:sp>
    </p:spTree>
    <p:extLst>
      <p:ext uri="{BB962C8B-B14F-4D97-AF65-F5344CB8AC3E}">
        <p14:creationId xmlns:p14="http://schemas.microsoft.com/office/powerpoint/2010/main" val="1951296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09B478-AE50-4B3A-AE90-9122704D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本汇报内容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229F7-A35A-4C0E-AF71-D3AB6BAE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第二周做数据基础，第三周做分割基线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FE906-8A7A-4B1D-B69C-A69F83A3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257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C9A57-D3D7-4950-AA10-7C565030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A81E7-8F7D-4D1A-B4B5-A9CA79CF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52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数据下载清单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B9FF3-EC8A-46D6-883B-E8D8C902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GYU-DET、dacl10k、CrackSeg9k 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1A50A-8E59-4636-8621-418C8211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19250"/>
            <a:ext cx="5257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45A33-36EE-4063-B58D-3FF040A0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84F81-6AB2-499E-B047-DF7DBA90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52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标注规范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CDF50-2E69-4B53-94DF-576F754C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95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检测框、分割多边形、负样本规则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1C7C9-02FD-48DE-870C-15569F1A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257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A47E4-B8E4-44CF-B655-8C0351B5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6B0FF-7401-4F78-A70E-346C742B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95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数据映射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EF688-8F22-4E93-885A-12C8C330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源类别到 A17 内部类别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8C84E-5D37-4992-9294-F57A6DA6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62250"/>
            <a:ext cx="5257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0D250-ACCF-43AD-88F5-D21203DD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D3F62-1006-46C4-9FDE-B238A900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95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类别映射表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586CA-8F2E-4161-B0B5-56603B57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8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阶段一和阶段二类别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9565A-2A3E-4F68-9256-8A0B0CB5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257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3C11B-2D93-4F69-8DC4-BDC88645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70C96-95E4-4D90-A81D-2F297C98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3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数据卡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3D8A81-6A20-4FAB-9B00-A093702E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81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GYU-DET 统计与质量检查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E8B4F8-1320-46ED-8071-7FD6DFCE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257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6D35A9-231E-43E4-8B7E-0ACC6529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865C82-93B4-4C74-ABC0-0AE48C23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3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YOLO-seg 基线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67E60-CC2C-484D-9E51-09B4A0DE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81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数据转换、训练与 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397332-CAE1-4A94-A80D-45595AE1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第 2、3 周详细汇报  |  02</a:t>
            </a:r>
          </a:p>
        </p:txBody>
      </p:sp>
    </p:spTree>
    <p:extLst>
      <p:ext uri="{BB962C8B-B14F-4D97-AF65-F5344CB8AC3E}">
        <p14:creationId xmlns:p14="http://schemas.microsoft.com/office/powerpoint/2010/main" val="1096327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DF000-8061-4036-8D40-66AAA238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第二周工作总览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F394E-A5DF-460A-8B01-3E4308BA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建立可复用的数据、标注和映射基础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9E53B-44A8-4E0E-9603-4FA15C62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5052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4CAB6-C4CE-4F48-A8C1-01F6533C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数据下载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D4C8C-896F-4754-9D23-AE7B1F31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GYU-DET 已解包；dacl10k 待下载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A7419-B936-4087-BF6A-32144AD3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19250"/>
            <a:ext cx="35052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E31B4-427C-4255-8C2B-E844F507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52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rPr>
              <a:t>标注规范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E5852-A388-43F3-872F-FA993156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检测框、分割、困难负样本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08878-DA77-4AF0-9242-C787DEF0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35052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1A2E4-2290-4DB1-AC80-5E56F315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52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rPr>
              <a:t>数据映射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EDD6A-65C5-4210-B58E-D45DDE51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源标签统一到 A17 类别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F9059-2213-4A51-B392-0E6EEED6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C8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743E2-6F97-4C85-91ED-14E85453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28B61-C147-45D6-8C9C-E1E350DF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annotation_spec.yaml / data_mapping.json / class_map.json / gyu_det_data_card.md / dataset.yaml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6AFC6-C055-43F0-8D92-DD547A57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第 2、3 周详细汇报  |  03</a:t>
            </a:r>
          </a:p>
        </p:txBody>
      </p:sp>
    </p:spTree>
    <p:extLst>
      <p:ext uri="{BB962C8B-B14F-4D97-AF65-F5344CB8AC3E}">
        <p14:creationId xmlns:p14="http://schemas.microsoft.com/office/powerpoint/2010/main" val="1850026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EAA10-E0D1-4D84-986D-AF5CAE6E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数据下载清单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74AB3-21CC-424A-8072-C8CE257A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实际状态与用途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 firstRow="1" firstCol="0" bandRow="1"/>
              <a:tblGrid>
                <a:gridCol w="3048000"/>
                <a:gridCol w="2476500"/>
                <a:gridCol w="1809750"/>
                <a:gridCol w="36385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大小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GYU-DET V4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已完成并解包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40.7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检测主数据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dacl10k v2 devphase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待下载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4.9 GB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分割主数据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CrackSeg9k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待下载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2.6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分割预训练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Concrete Crack Segmentation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待下载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0.3 GB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高分辨率裂缝补充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SDNET2018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待下载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0.5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分类和负样本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8538D-D72A-427B-946A-E39FA290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A"/>
          </a:solidFill>
          <a:ln xmlns:a="http://schemas.openxmlformats.org/drawingml/2006/main" w="9525">
            <a:solidFill>
              <a:srgbClr val="F2DC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BF78D-1E04-4169-AC97-C5C507AC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dacl10k 下载受网络限制，尚未完成；其余补充数据按需下载。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79B76-9319-4521-9C14-730152A9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第 2、3 周详细汇报  |  04</a:t>
            </a:r>
          </a:p>
        </p:txBody>
      </p:sp>
    </p:spTree>
    <p:extLst>
      <p:ext uri="{BB962C8B-B14F-4D97-AF65-F5344CB8AC3E}">
        <p14:creationId xmlns:p14="http://schemas.microsoft.com/office/powerpoint/2010/main" val="1023163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5E3AF-7C57-45D5-A790-B9543A76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标注规范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93779-DFC3-4DC2-B03C-71FCF763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统一检测、分割和质量检查规则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DDB73-23CA-4FE2-8FC3-51E02FDB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5052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E2454-0233-48D8-AA28-51854F50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检测框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4F1AF-E8BF-4C17-B24E-D1085DAC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YOLO 归一化 xywh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类别索引从 0 开始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坐标在 0 到 1 之间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FB104-7419-4231-8006-8E4D91C0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19250"/>
            <a:ext cx="35052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9632C-DE2D-4426-9BA1-0EC65C15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05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实例分割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0C2C2-EAC3-46EF-8673-CF59C78F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2412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多边形或像素 Mask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每个病害一个实例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Mask 面积大于 4 像素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9AD38-A8AA-478F-9628-D73FBB33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35052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2AB4F-5047-4421-9671-F781C5E8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05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困难样本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F1AFA-C592-4504-80AA-C5D338BF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2412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施工缝、阴影、反光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涂鸦、植物、模板痕迹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保留为负样本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E2544-9A63-4B65-89FA-06DE4A2A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271A0-C77E-4E03-81F2-B40A5CCC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数据划分：训练 80% / 验证 10% / 测试 10%，按桥梁或拍摄批次隔离，禁止同源跨集。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FFA80-E4D9-498E-8B9C-705538A1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第 2、3 周详细汇报  |  05</a:t>
            </a:r>
          </a:p>
        </p:txBody>
      </p:sp>
    </p:spTree>
    <p:extLst>
      <p:ext uri="{BB962C8B-B14F-4D97-AF65-F5344CB8AC3E}">
        <p14:creationId xmlns:p14="http://schemas.microsoft.com/office/powerpoint/2010/main" val="11428288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02664D-0EAF-45BE-B18E-DC8A0760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数据映射流程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A3B81-B363-4D2D-B776-131C0E79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从原始标签到可训练的统一格式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FAD0E-51F5-4BB3-B03A-8ECD0C01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81200" cy="24765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09A6B-2A8B-4CD0-A61A-0110E608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7B4CA-8FAB-49F9-98BF-0BE817B5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原始数据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26848-9263-40CC-85F9-EF8BA2BA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GYU-DET TXT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dacl10k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A3926-F68C-4E3B-898B-1B55A108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7180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C4"/>
          </a:solidFill>
          <a:ln xmlns:a="http://schemas.openxmlformats.org/drawingml/2006/main" w="0">
            <a:solidFill>
              <a:srgbClr val="2F78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1318C-2886-4657-9EFA-311B820F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09750"/>
            <a:ext cx="1981200" cy="24765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F3044-B9BE-4B9A-84C7-C30465EB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88941-47F1-4605-BC91-4C8FFA8F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33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读取 classes.txt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877C0-DB86-4E80-BF4B-CB41AFB3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自动识别源类别顺序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EFA07-A643-47F2-AC3F-D83B420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7180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C4"/>
          </a:solidFill>
          <a:ln xmlns:a="http://schemas.openxmlformats.org/drawingml/2006/main" w="0">
            <a:solidFill>
              <a:srgbClr val="2F78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1BB32-0C24-40EF-B3CD-14960201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1981200" cy="24765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112B46"/>
          </a:solidFill>
          <a:ln xmlns:a="http://schemas.openxmlformats.org/drawingml/2006/main" w="9525">
            <a:solidFill>
              <a:srgbClr val="112B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DF4FC-E83F-4F40-A5C6-FD77C5FF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95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B9D7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9D7F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4CEAE-4728-4376-B6F9-B96D6B6A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类别映射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2A794-D315-423C-A5EC-5597DCBE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D7E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7E7F5"/>
                </a:solidFill>
                <a:latin typeface="Microsoft YaHei"/>
                <a:ea typeface="Microsoft YaHei"/>
                <a:cs typeface="Microsoft YaHei"/>
              </a:rPr>
              <a:t>源名称 -&gt; A17 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58CC1-7CAF-4711-94E2-F993356F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7180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C4"/>
          </a:solidFill>
          <a:ln xmlns:a="http://schemas.openxmlformats.org/drawingml/2006/main" w="0">
            <a:solidFill>
              <a:srgbClr val="2F78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3F298-031C-4007-9FE1-26E68C4E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09750"/>
            <a:ext cx="1981200" cy="24765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BF7E4-46BF-4078-8458-4F6E17D8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95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796D4-6A0F-4BD7-8E21-CA79EFBC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33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重写标签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7E60A-5B5A-4071-9764-39D09561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38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内部类别 ID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YOLO 格式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222039-9FBB-435E-86C2-7ADA737E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C4"/>
          </a:solidFill>
          <a:ln xmlns:a="http://schemas.openxmlformats.org/drawingml/2006/main" w="0">
            <a:solidFill>
              <a:srgbClr val="2F78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7780E6-0E16-41D8-A28E-401E65E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09750"/>
            <a:ext cx="1981200" cy="24765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DB05CE-6DC0-46B6-8A93-5D25D150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95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1D2B3A-C4B1-45E4-A1A8-C407EE0F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33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生成 dataset.yaml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450FAC-6E47-4FC0-81D5-EF82BF52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38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图片、标签和 names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EF4915-31C0-42D9-8A7E-DB8A2861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映射逻辑在 data_mapping.json 中维护，转换脚本使用流式复制避免占用过多内存。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8F68B0-305E-4A13-835A-10BF4370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第 2、3 周详细汇报  |  06</a:t>
            </a:r>
          </a:p>
        </p:txBody>
      </p:sp>
    </p:spTree>
    <p:extLst>
      <p:ext uri="{BB962C8B-B14F-4D97-AF65-F5344CB8AC3E}">
        <p14:creationId xmlns:p14="http://schemas.microsoft.com/office/powerpoint/2010/main" val="1478744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619E2-0946-4979-A8A8-3872C43E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类别映射表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6B9B8-E24D-437F-A7D4-2CF9C7D5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GYU-DET 与 dacl10k 统一到 A17 内部类别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 firstRow="1" firstCol="0" bandRow="1"/>
              <a:tblGrid>
                <a:gridCol w="3048000"/>
                <a:gridCol w="1047750"/>
                <a:gridCol w="2952750"/>
                <a:gridCol w="39243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A17 类别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GYU-DET 源类别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dacl10k 源类别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crack 裂缝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Crack、ACrack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spalling 剥落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Breakage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Spalling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exposed_rebar 钢筋裸露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Reinforcement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ExposedRebars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efflorescence 泛碱/渗水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Seepage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Efflorescence、Wetspot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honeycomb 蜂窝/孔洞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Comb、Hole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Rockpocket、Cavity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rust 锈蚀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无直接类别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Rust、WConccor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5AA10-64D4-4DBB-B41C-1413D058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第 2、3 周详细汇报  |  07</a:t>
            </a:r>
          </a:p>
        </p:txBody>
      </p:sp>
    </p:spTree>
    <p:extLst>
      <p:ext uri="{BB962C8B-B14F-4D97-AF65-F5344CB8AC3E}">
        <p14:creationId xmlns:p14="http://schemas.microsoft.com/office/powerpoint/2010/main" val="17064998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F2B69-ED1F-47D2-917C-699C402F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GYU-DET 数据卡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2F71C-089A-4274-987E-02E26CCC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原始标签统计与质量检查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1" firstCol="0" bandRow="1"/>
              <a:tblGrid>
                <a:gridCol w="3143250"/>
                <a:gridCol w="2381250"/>
                <a:gridCol w="2381250"/>
                <a:gridCol w="30670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统计项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标签文件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8,334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病害实例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37,715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4,930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5,886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3,883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Breakage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13,417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2,141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3,628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Reinforcement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10,658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1,335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1,381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格式异常行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C1A20-9C53-4B7C-85F4-CDD2AF2F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类别顺序：Crack、Breakage、Comb、Hole、Reinforcement、Seepage。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87C1D-ADEA-4066-B38F-CB0BCC32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第 2、3 周详细汇报  |  08</a:t>
            </a:r>
          </a:p>
        </p:txBody>
      </p:sp>
    </p:spTree>
    <p:extLst>
      <p:ext uri="{BB962C8B-B14F-4D97-AF65-F5344CB8AC3E}">
        <p14:creationId xmlns:p14="http://schemas.microsoft.com/office/powerpoint/2010/main" val="2450123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95EC9-0063-4688-82B4-A57C1271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转换后的训练数据集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A6A31-231C-44B4-9CE4-AB993C32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仅保留第一阶段三类病害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1" firstCol="0" bandRow="1"/>
              <a:tblGrid>
                <a:gridCol w="1905000"/>
                <a:gridCol w="1905000"/>
                <a:gridCol w="1905000"/>
                <a:gridCol w="52578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有效标签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8,898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6,991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部分图片无第一阶段病害，已跳过标签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1,112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907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按原数据划分保留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1,113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用于最终评测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23FF2-1160-4B6C-A07B-179D1B25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B9E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5794E-21A9-4969-9C25-A34B05AB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rPr>
              <a:t>dataset.yaml 已生成：train / validation / test + 3 个 names。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CF105-73AE-4054-AF74-B9D06B88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第 2、3 周详细汇报  |  09</a:t>
            </a:r>
          </a:p>
        </p:txBody>
      </p:sp>
    </p:spTree>
    <p:extLst>
      <p:ext uri="{BB962C8B-B14F-4D97-AF65-F5344CB8AC3E}">
        <p14:creationId xmlns:p14="http://schemas.microsoft.com/office/powerpoint/2010/main" val="16439393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44AAD-78D8-45D9-8582-0D21399A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第三周工作总览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47663-856C-4335-8919-349839F8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建立 YOLO-seg 分割基线并输出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53C32-D117-4BB6-A144-B952193A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5052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6402F-8883-411D-AAE1-D3918AD3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01 数据准备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22752-5187-420A-9462-15AA194A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解压 dacl10k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解析 LabelMe 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1D787-3BC3-4E5F-B21D-11743C60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5052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2E756-8891-499A-8400-073F53A6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rPr>
              <a:t>02 掩膜转换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26B6C-F79E-4833-9598-42C45F4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多边形 -&gt; YOLO-seg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class + 归一化坐标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3A447-4D5A-4E60-98F9-FA23260B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5052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1B750-6756-4D4D-B16F-5134214E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38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rPr>
              <a:t>03 训练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77BF1-344F-47F2-9AAE-B8D0DA79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289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yolo11n-seg / s-seg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imgsz 1024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64AF2-F7B4-439C-AC54-702E4BE2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9525">
            <a:solidFill>
              <a:srgbClr val="F2CD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78A1E-5904-42D4-A89E-9007C263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1040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rPr>
              <a:t>当前状态：dacl10k 尚未下载，YOLO-seg 基线处于待执行状态。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0076A-32B5-457F-B32E-871807E0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第 2、3 周详细汇报  |  10</a:t>
            </a:r>
          </a:p>
        </p:txBody>
      </p:sp>
    </p:spTree>
    <p:extLst>
      <p:ext uri="{BB962C8B-B14F-4D97-AF65-F5344CB8AC3E}">
        <p14:creationId xmlns:p14="http://schemas.microsoft.com/office/powerpoint/2010/main" val="12714527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5166C5-BEDC-4B6C-9706-AF639148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dacl10k 转 YOLO-seg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776BC-D277-402D-A1D9-04DF98B3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LabelMe 多边形转换为分割标签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4AA3E-5964-4787-971D-C183D929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81200" cy="238125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1EB17-C85C-4F5E-A395-076B1167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5EFD0-6704-4CFF-B7BE-3105DBA0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解压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58932-6940-408D-9432-423C1184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images + annotations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E99D6-339C-49E2-BAE6-29E2259B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5750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9D7A"/>
          </a:solidFill>
          <a:ln xmlns:a="http://schemas.openxmlformats.org/drawingml/2006/main" w="0">
            <a:solidFill>
              <a:srgbClr val="1E9D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26C94-91E7-4D67-A153-8B4EA605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09750"/>
            <a:ext cx="1981200" cy="238125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B0BB6-339F-484A-AA78-116B3EEF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4D245-B8D4-4F37-8ED0-65B555B6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解析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BC9A3-1EF0-4FA2-912D-3A2FA091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shapes、points、label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BAB4A-4801-4D77-9BED-0DA3651F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5750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9D7A"/>
          </a:solidFill>
          <a:ln xmlns:a="http://schemas.openxmlformats.org/drawingml/2006/main" w="0">
            <a:solidFill>
              <a:srgbClr val="1E9D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11857-3C9F-47CC-AF50-B2DE65FE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1981200" cy="238125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2FBAC-4FE4-4D85-B942-35CB507A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76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EDA9E-B663-4326-A4FC-B9DADB6F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映射类别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6ACB8-8605-4CE8-B840-389E8724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432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19 类 -&gt; A17 类别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BF50A-4B7D-4922-B58E-B738FC85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5750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9D7A"/>
          </a:solidFill>
          <a:ln xmlns:a="http://schemas.openxmlformats.org/drawingml/2006/main" w="0">
            <a:solidFill>
              <a:srgbClr val="1E9D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DD9219-B5D9-48AC-8A94-DC10F553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09750"/>
            <a:ext cx="1981200" cy="238125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747DF-6B2A-4E4F-8109-547180CC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4E909-200D-4BB2-A8A0-3429EA09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写分割标签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BDCC9-DA36-4E77-8BA8-BB88D67C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432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class x1 y1 x2 y2 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40AE2-3D38-4420-AE0B-F21C27EF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9D7A"/>
          </a:solidFill>
          <a:ln xmlns:a="http://schemas.openxmlformats.org/drawingml/2006/main" w="0">
            <a:solidFill>
              <a:srgbClr val="1E9D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32653F-89E9-4F8F-AA76-38A3D360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09750"/>
            <a:ext cx="1981200" cy="238125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451787-9BDD-4969-B77B-2116447C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76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22D65B-A11D-48B9-A277-49314D66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dataset.yaml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472C45-D5DD-48B5-9194-8A2D8968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432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train / val / names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5E92A6-2E98-4CE5-AC04-B782B21A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dacl10k 提供多边形 JSON，能够保留每个病害实例，适合训练 YOLO-seg。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473B35-E66F-45EC-AF59-4A4CB438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第 2、3 周详细汇报  |  11</a:t>
            </a:r>
          </a:p>
        </p:txBody>
      </p:sp>
    </p:spTree>
    <p:extLst>
      <p:ext uri="{BB962C8B-B14F-4D97-AF65-F5344CB8AC3E}">
        <p14:creationId xmlns:p14="http://schemas.microsoft.com/office/powerpoint/2010/main" val="561726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6118A-C28F-4408-9D26-B44D0A7C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YOLO-seg 训练配置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CC6B4-88CB-479C-8341-2A5C3568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与检测基线保持一致的工程设置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1" firstCol="0" bandRow="1"/>
              <a:tblGrid>
                <a:gridCol w="2095500"/>
                <a:gridCol w="4000500"/>
                <a:gridCol w="48768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第一基线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加强版本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yolo11n-seg.pt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yolo11s-seg.pt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task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segment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segment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imgsz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epochs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device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RTX 5060，CUDA 12.8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RTX 5060，CUDA 12.8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D773D-A71D-4CD3-9F12-CB6F4B3A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训练前先完成数据映射和掩膜转换，训练后输出 best.pt 和训练日志。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85C9E-1D03-40CD-8CC1-E6601EE3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第 2、3 周详细汇报  |  12</a:t>
            </a:r>
          </a:p>
        </p:txBody>
      </p:sp>
    </p:spTree>
    <p:extLst>
      <p:ext uri="{BB962C8B-B14F-4D97-AF65-F5344CB8AC3E}">
        <p14:creationId xmlns:p14="http://schemas.microsoft.com/office/powerpoint/2010/main" val="14924075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B91EC-2B87-4B47-9B58-41880CC0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mAP 评估方案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87085-1BBF-4EB7-9C8D-4F7A5B3F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分割任务的核心指标与报告格式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1" firstCol="0" bandRow="1"/>
              <a:tblGrid>
                <a:gridCol w="2667000"/>
                <a:gridCol w="3714750"/>
                <a:gridCol w="45910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Mask mAP@0.5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IoU 0.5 下的平均精度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总表和分表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Mask mAP@0.5:0.95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 IoU 阈值平均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COCO 风格报告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Precision / Recall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类别精度和召回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按类别表格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Inference ms / FPS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推理速度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模型速度报告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46366-FFB0-49DF-9E84-8AC26CFC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C8DD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D7CF6-D8FE-4848-B4D8-7024F14C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报告文件：metrics.json / metrics.csv / metrics.md，指标可复现。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20ACA-CEF7-4427-A910-77DE3622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第 2、3 周详细汇报  |  13</a:t>
            </a:r>
          </a:p>
        </p:txBody>
      </p:sp>
    </p:spTree>
    <p:extLst>
      <p:ext uri="{BB962C8B-B14F-4D97-AF65-F5344CB8AC3E}">
        <p14:creationId xmlns:p14="http://schemas.microsoft.com/office/powerpoint/2010/main" val="9764855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45598-8854-4A4F-B10D-E2DDEA7D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当前进度与计划对照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AE476-5422-4B07-9DE5-8E0B4FB6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已完成与待完成一目了然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bandRow="1"/>
              <a:tblGrid>
                <a:gridCol w="3143250"/>
                <a:gridCol w="1714500"/>
                <a:gridCol w="61150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工作项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 GYU-DET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 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 dacl10k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 周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待下载，网络受限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制定标注规范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 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数据映射与类别表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 周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 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跑通 YOLO-seg 基线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3 周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待执行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 mAP 评测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3 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脚本已就绪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D0061-7401-4FB6-9AF2-4A7BE7DD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第 2、3 周详细汇报  |  14</a:t>
            </a:r>
          </a:p>
        </p:txBody>
      </p:sp>
    </p:spTree>
    <p:extLst>
      <p:ext uri="{BB962C8B-B14F-4D97-AF65-F5344CB8AC3E}">
        <p14:creationId xmlns:p14="http://schemas.microsoft.com/office/powerpoint/2010/main" val="10417371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EAAA40-7C94-4EAC-8A43-28C4413E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风险与下一步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8D4C3-558C-4B09-AC09-C68321B1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先补齐数据，再完成分割闭环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D0B96-2F4E-417B-AAFA-7843D694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2578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E56AD-E4CE-4D15-8E7E-9C74DAED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rPr>
              <a:t>dacl10k 下载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C54F2-FF54-459F-8CF3-0729B86A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使用下载工具或 Kaggle 镜像获取 4.9GB 压缩包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0A277-9403-4294-81C0-95FC3D9C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19250"/>
            <a:ext cx="52578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5DA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9F4E7-AB57-4E82-93E6-03DD171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rPr>
              <a:t>标注一致性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7F7E4-89D8-48E2-872F-6142EE52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冻结 19 类到 A17 类别的映射规则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1D694-8B0D-4571-919E-BFF44FFD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2578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9876D-BD40-49A6-9480-AB0BB32D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rPr>
              <a:t>显存限制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F4D89-E576-4F3B-9F00-F75B2810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imgsz 1024、batch 2、AMP 混合精度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08B95-1DC4-43AE-999C-0F0058E8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48000"/>
            <a:ext cx="52578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5DA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1F233-EA0C-444F-9013-C67213AB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rPr>
              <a:t>mAP 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3D1CA-316C-474C-B5FF-9B557F85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训练完成后立即跑测试集评测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8A839-B36C-4E6A-8FAA-7ACD448A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12B46"/>
          </a:solidFill>
          <a:ln xmlns:a="http://schemas.openxmlformats.org/drawingml/2006/main" w="9525">
            <a:solidFill>
              <a:srgbClr val="112B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B26974-1A0D-45BE-A26B-1E742365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1040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下一步：补齐 dacl10k，执行掩膜转换和 YOLO-seg 训练，再输出 mAP 与速度报告。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4D244-48CD-42B5-A140-A48B832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第 2、3 周详细汇报  |  15</a:t>
            </a:r>
          </a:p>
        </p:txBody>
      </p:sp>
    </p:spTree>
    <p:extLst>
      <p:ext uri="{BB962C8B-B14F-4D97-AF65-F5344CB8AC3E}">
        <p14:creationId xmlns:p14="http://schemas.microsoft.com/office/powerpoint/2010/main" val="702304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2026-10-09T23:22:01.8920000Z</dcterms:created>
  <dcterms:modified xsi:type="dcterms:W3CDTF">2026-10-09T23:22:01.8920000Z</dcterms:modified>
</coreProperties>
</file>