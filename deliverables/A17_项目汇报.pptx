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b4e1fbe39740ae" /><Relationship Type="http://schemas.openxmlformats.org/officeDocument/2006/relationships/extended-properties" Target="/docProps/app.xml" Id="R3937e122fff44caf" /><Relationship Type="http://schemas.openxmlformats.org/officeDocument/2006/relationships/officeDocument" Target="/ppt/presentation.xml" Id="Rb0205a5cdba7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9eb7d766a46f4"/>
  </p:sldMasterIdLst>
  <p:notesMasterIdLst>
    <p:notesMasterId xmlns:r="http://schemas.openxmlformats.org/officeDocument/2006/relationships" r:id="Ra8ab302c124c4dcf"/>
  </p:notesMasterIdLst>
  <p:sldIdLst>
    <p:sldId xmlns:r="http://schemas.openxmlformats.org/officeDocument/2006/relationships" id="256" r:id="R83f3a8e7b7dd4319"/>
    <p:sldId xmlns:r="http://schemas.openxmlformats.org/officeDocument/2006/relationships" id="257" r:id="R98601070ccd040b0"/>
    <p:sldId xmlns:r="http://schemas.openxmlformats.org/officeDocument/2006/relationships" id="258" r:id="R5622d06ad7374e0b"/>
    <p:sldId xmlns:r="http://schemas.openxmlformats.org/officeDocument/2006/relationships" id="259" r:id="Rb0cb55ec3b7743bb"/>
    <p:sldId xmlns:r="http://schemas.openxmlformats.org/officeDocument/2006/relationships" id="260" r:id="Rcb50c56b7ca2496a"/>
    <p:sldId xmlns:r="http://schemas.openxmlformats.org/officeDocument/2006/relationships" id="261" r:id="R9af833e5040c4c01"/>
    <p:sldId xmlns:r="http://schemas.openxmlformats.org/officeDocument/2006/relationships" id="262" r:id="Ra76fb8af025042fc"/>
    <p:sldId xmlns:r="http://schemas.openxmlformats.org/officeDocument/2006/relationships" id="263" r:id="R7268137540a642d5"/>
    <p:sldId xmlns:r="http://schemas.openxmlformats.org/officeDocument/2006/relationships" id="264" r:id="R3ceb75a30a114f15"/>
    <p:sldId xmlns:r="http://schemas.openxmlformats.org/officeDocument/2006/relationships" id="265" r:id="R11e43bef13a942f9"/>
    <p:sldId xmlns:r="http://schemas.openxmlformats.org/officeDocument/2006/relationships" id="266" r:id="Rb09ba61354a44246"/>
    <p:sldId xmlns:r="http://schemas.openxmlformats.org/officeDocument/2006/relationships" id="267" r:id="R32829d6433dd432f"/>
    <p:sldId xmlns:r="http://schemas.openxmlformats.org/officeDocument/2006/relationships" id="268" r:id="R0dea7445a04e46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6f97f94944b20" /><Relationship Type="http://schemas.openxmlformats.org/officeDocument/2006/relationships/slideMaster" Target="/ppt/slideMasters/slideMaster1.xml" Id="R4fa9eb7d766a46f4" /><Relationship Type="http://schemas.openxmlformats.org/officeDocument/2006/relationships/notesMaster" Target="/ppt/notesMasters/notesMaster1.xml" Id="Ra8ab302c124c4dcf" /><Relationship Type="http://schemas.openxmlformats.org/officeDocument/2006/relationships/presProps" Target="/ppt/presProps.xml" Id="R6047d70454194358" /><Relationship Type="http://schemas.openxmlformats.org/officeDocument/2006/relationships/tableStyles" Target="/ppt/tableStyles.xml" Id="R64f734f5bff94474" /><Relationship Type="http://schemas.openxmlformats.org/officeDocument/2006/relationships/slide" Target="/ppt/slides/slide1.xml" Id="R83f3a8e7b7dd4319" /><Relationship Type="http://schemas.openxmlformats.org/officeDocument/2006/relationships/slide" Target="/ppt/slides/slide2.xml" Id="R98601070ccd040b0" /><Relationship Type="http://schemas.openxmlformats.org/officeDocument/2006/relationships/slide" Target="/ppt/slides/slide3.xml" Id="R5622d06ad7374e0b" /><Relationship Type="http://schemas.openxmlformats.org/officeDocument/2006/relationships/slide" Target="/ppt/slides/slide4.xml" Id="Rb0cb55ec3b7743bb" /><Relationship Type="http://schemas.openxmlformats.org/officeDocument/2006/relationships/slide" Target="/ppt/slides/slide5.xml" Id="Rcb50c56b7ca2496a" /><Relationship Type="http://schemas.openxmlformats.org/officeDocument/2006/relationships/slide" Target="/ppt/slides/slide6.xml" Id="R9af833e5040c4c01" /><Relationship Type="http://schemas.openxmlformats.org/officeDocument/2006/relationships/slide" Target="/ppt/slides/slide7.xml" Id="Ra76fb8af025042fc" /><Relationship Type="http://schemas.openxmlformats.org/officeDocument/2006/relationships/slide" Target="/ppt/slides/slide8.xml" Id="R7268137540a642d5" /><Relationship Type="http://schemas.openxmlformats.org/officeDocument/2006/relationships/slide" Target="/ppt/slides/slide9.xml" Id="R3ceb75a30a114f15" /><Relationship Type="http://schemas.openxmlformats.org/officeDocument/2006/relationships/slide" Target="/ppt/slides/slide10.xml" Id="R11e43bef13a942f9" /><Relationship Type="http://schemas.openxmlformats.org/officeDocument/2006/relationships/slide" Target="/ppt/slides/slide11.xml" Id="Rb09ba61354a44246" /><Relationship Type="http://schemas.openxmlformats.org/officeDocument/2006/relationships/slide" Target="/ppt/slides/slide12.xml" Id="R32829d6433dd432f" /><Relationship Type="http://schemas.openxmlformats.org/officeDocument/2006/relationships/slide" Target="/ppt/slides/slide13.xml" Id="R0dea7445a04e46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aa1aee0bc46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d3bf36dc604d1a" /><Relationship Type="http://schemas.openxmlformats.org/officeDocument/2006/relationships/notesMaster" Target="/ppt/notesMasters/notesMaster1.xml" Id="R906b01dfe8d344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9d26aecf44232" /><Relationship Type="http://schemas.openxmlformats.org/officeDocument/2006/relationships/notesMaster" Target="/ppt/notesMasters/notesMaster1.xml" Id="R267edbd97d0a4c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562b7ab2ef44d6" /><Relationship Type="http://schemas.openxmlformats.org/officeDocument/2006/relationships/notesMaster" Target="/ppt/notesMasters/notesMaster1.xml" Id="Ra2178f73a17c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bfd6ef792499c" /><Relationship Type="http://schemas.openxmlformats.org/officeDocument/2006/relationships/notesMaster" Target="/ppt/notesMasters/notesMaster1.xml" Id="Rb39c86b81b5c40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6e05bd4e7546d5" /><Relationship Type="http://schemas.openxmlformats.org/officeDocument/2006/relationships/notesMaster" Target="/ppt/notesMasters/notesMaster1.xml" Id="R725ee4aa658141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4863512232476f" /><Relationship Type="http://schemas.openxmlformats.org/officeDocument/2006/relationships/notesMaster" Target="/ppt/notesMasters/notesMaster1.xml" Id="R1e6e73d520d548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c0ddcf65c744a1" /><Relationship Type="http://schemas.openxmlformats.org/officeDocument/2006/relationships/notesMaster" Target="/ppt/notesMasters/notesMaster1.xml" Id="Re153e95d216c41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af273360ed4577" /><Relationship Type="http://schemas.openxmlformats.org/officeDocument/2006/relationships/notesMaster" Target="/ppt/notesMasters/notesMaster1.xml" Id="R65fb333d492942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da36cab54f42cc" /><Relationship Type="http://schemas.openxmlformats.org/officeDocument/2006/relationships/notesMaster" Target="/ppt/notesMasters/notesMaster1.xml" Id="R43fbfe472e2746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b0b9f590f64b07" /><Relationship Type="http://schemas.openxmlformats.org/officeDocument/2006/relationships/notesMaster" Target="/ppt/notesMasters/notesMaster1.xml" Id="R36ede188a8c642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82804c81f143b9" /><Relationship Type="http://schemas.openxmlformats.org/officeDocument/2006/relationships/notesMaster" Target="/ppt/notesMasters/notesMaster1.xml" Id="Raedbc9ff8be24e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a1c28238c64d72" /><Relationship Type="http://schemas.openxmlformats.org/officeDocument/2006/relationships/notesMaster" Target="/ppt/notesMasters/notesMaster1.xml" Id="R5031cfee2bbb40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1814992ea7462d" /><Relationship Type="http://schemas.openxmlformats.org/officeDocument/2006/relationships/notesMaster" Target="/ppt/notesMasters/notesMaster1.xml" Id="R096f2c2307c1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封面。标题、赛题属性和项目组信息。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项目背景和目标。强调完整闭环，而不是只做一个裂缝分类器。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第一阶段范围与当前 D1/D2 完成状态。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来源：A17 赛题手册；内部量化目标来自项目实施方案。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六模块架构。强调“先闭环、再优化”的工程顺序。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数据来源和许可证注意事项。dacl10k官方许可与镜像页面存在冲突。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模型选择和四项关键改进。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八阶段实现流程。按顺序推进，不跳过评测和复现环节。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像素标定、裂缝长度、最大宽度和量化验收。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Demo功能和最终交付物。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12周计划按数据、检测、分割、量化、优化和提交六阶段组织。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3人分工和相互接口。所有交付都从Git仓库流转。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主要风险、应对措施和下一阶段门槛。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edbe4712342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0282fefc754b4b" /><Relationship Type="http://schemas.openxmlformats.org/officeDocument/2006/relationships/slideLayout" Target="/ppt/slideLayouts/slideLayout1.xml" Id="Rcf8ead8cad7f4d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ead8cad7f4d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8004607754689" /><Relationship Type="http://schemas.openxmlformats.org/officeDocument/2006/relationships/notesSlide" Target="/ppt/notesSlides/notesSlide1.xml" Id="R44af863ccb1140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1d0b7db31473b" /><Relationship Type="http://schemas.openxmlformats.org/officeDocument/2006/relationships/notesSlide" Target="/ppt/notesSlides/notesSlide2.xml" Id="R757b03f222f44f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7e2d95ab7412b" /><Relationship Type="http://schemas.openxmlformats.org/officeDocument/2006/relationships/notesSlide" Target="/ppt/notesSlides/notesSlide3.xml" Id="Ra86942cbaddf46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cdb4a19154f91" /><Relationship Type="http://schemas.openxmlformats.org/officeDocument/2006/relationships/notesSlide" Target="/ppt/notesSlides/notesSlide4.xml" Id="Rbce46d0c19614c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1cfb4046746a3" /><Relationship Type="http://schemas.openxmlformats.org/officeDocument/2006/relationships/notesSlide" Target="/ppt/notesSlides/notesSlide5.xml" Id="Rc446470332044d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dbe00f3574b87" /><Relationship Type="http://schemas.openxmlformats.org/officeDocument/2006/relationships/notesSlide" Target="/ppt/notesSlides/notesSlide6.xml" Id="Rbb8a5791968148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a44927950419f" /><Relationship Type="http://schemas.openxmlformats.org/officeDocument/2006/relationships/notesSlide" Target="/ppt/notesSlides/notesSlide7.xml" Id="R697cc107703c4a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0bad5c32a4e1a" /><Relationship Type="http://schemas.openxmlformats.org/officeDocument/2006/relationships/notesSlide" Target="/ppt/notesSlides/notesSlide8.xml" Id="R2d0dbc7d02d446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7cf4c84e24060" /><Relationship Type="http://schemas.openxmlformats.org/officeDocument/2006/relationships/notesSlide" Target="/ppt/notesSlides/notesSlide9.xml" Id="R682921f87c394e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ce72fb289438c" /><Relationship Type="http://schemas.openxmlformats.org/officeDocument/2006/relationships/notesSlide" Target="/ppt/notesSlides/notesSlide10.xml" Id="R54891bcf9c194f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48b7b29514527" /><Relationship Type="http://schemas.openxmlformats.org/officeDocument/2006/relationships/notesSlide" Target="/ppt/notesSlides/notesSlide11.xml" Id="R465c1cf6e24d4b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39c0cc45f4d01" /><Relationship Type="http://schemas.openxmlformats.org/officeDocument/2006/relationships/notesSlide" Target="/ppt/notesSlides/notesSlide12.xml" Id="R5e56f30dba8040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14e2b15f54067" /><Relationship Type="http://schemas.openxmlformats.org/officeDocument/2006/relationships/notesSlide" Target="/ppt/notesSlides/notesSlide13.xml" Id="Rbf2e1cad23a94f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9CCFE-8B5D-41AE-9A11-1B375E01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05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826A5-BA72-4662-B681-0E8F43AA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51254-735E-41CE-92F5-434B6E6A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84CF9-1C48-4B8D-8167-8FFB44C6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A17 桥梁表观病害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精细化智能检测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5523C-8596-49CC-A110-1F451467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rPr>
              <a:t>项目汇报：技术方案、实现流程与3人分工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5AA7C-B716-4D53-8AE4-8C77314E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FB5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5C9"/>
                </a:solidFill>
                <a:latin typeface="Microsoft YaHei"/>
                <a:ea typeface="Microsoft YaHei"/>
                <a:cs typeface="Microsoft YaHei"/>
              </a:rPr>
              <a:t>中国大学生服务外包创新创业大赛  A类赛题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6DD1C-F5CE-478F-8F5E-2300ACE7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项目组  |  2026</a:t>
            </a:r>
          </a:p>
        </p:txBody>
      </p:sp>
    </p:spTree>
    <p:extLst>
      <p:ext uri="{BB962C8B-B14F-4D97-AF65-F5344CB8AC3E}">
        <p14:creationId xmlns:p14="http://schemas.microsoft.com/office/powerpoint/2010/main" val="2064645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43108-FF11-4ADD-BF6A-1E96CD14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3CB2A-2027-4A99-BFBC-49DD985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从人工巡检到自动化检测、分割与量化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2B275-F50E-41DE-A1E5-E623850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5052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CB173-0628-4AB7-ADB4-0E387385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4D5EA-3012-4ED2-988E-833F24A4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952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桥梁病害类型多、目标小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人工判读效率低且容易漏检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只框出病害无法直接评估结构状态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ABE7D-3D41-4243-81B9-B0903E76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35052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BA6C5-FC64-43ED-8C66-C68B88E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D8241-399D-4FDA-8C71-C404544E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2952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无人机图像和视频输入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检测 + 实例分割 + 尺寸量化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输出可视化结果和结构化JSON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3C5D1-52FD-4802-BD4A-E9197467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5052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6CE41-44B8-47C9-942A-C11BB0D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7C7B3-C966-4EA7-A8A0-65CC4CE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952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至少覆盖3类病害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4K端到端P95不超过200ms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400"/>
              </a:spcAft>
              <a:buNone/>
              <a:def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支持图片、批量和视频演示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3DD24-AB19-4D5C-A564-BBF88D46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3EC68-89CB-4135-9CD5-D5470E75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项目不是单次图像分类，而是要打通数据、模型、量化、部署和演示五个环节。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44DB0-9C52-4628-AFBA-05580586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02</a:t>
            </a:r>
          </a:p>
        </p:txBody>
      </p:sp>
    </p:spTree>
    <p:extLst>
      <p:ext uri="{BB962C8B-B14F-4D97-AF65-F5344CB8AC3E}">
        <p14:creationId xmlns:p14="http://schemas.microsoft.com/office/powerpoint/2010/main" val="18919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83EF3-1248-418F-921E-AE71C07F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第一阶段范围与项目进展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1B71E-9C0C-4A87-996C-80A9E9EF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先完成三类病害闭环，再扩展类别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819CC-7481-4229-AFB8-94C90107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1435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C8E8F-96D3-4ECF-8078-AE98796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第一阶段冻结类别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9CCA7-CFDD-433F-A2DA-4DE5291B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5910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056E6-60A1-47F1-BB06-38D322B2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D8F85-8CAA-47CC-927B-1FB98C8E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62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混凝土裂缝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08B40-4FC5-43E9-B452-178FBAF8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19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细长裂缝、交叉裂缝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37A7A-A282-4687-809D-2713C63B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crack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D8691-7C8C-4A6F-A51A-86B7C008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5910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50632-87CF-48E3-9BF2-A068BC3B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0F8BC-8FF2-4559-A728-367C995A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剥落或掉块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29C6B-C79F-4C68-9791-6A931044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956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局部剥落、掉块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9F6BB-2D50-460A-BE16-7C65BC83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spalling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F3C9A-C1BD-4B64-8DCA-ACBFF4E9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5910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B0910-DCA1-445E-90EC-FE2A131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34E07-72D8-41D1-B4A3-15656491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1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钢筋裸露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06619-B693-4BF6-B137-FAFA4AD1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719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露筋、外部钢筋区域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9AE28-7573-4C6D-83E1-744F75DC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1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exposed_rebar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C7E42-1A8D-4F76-9717-BEDAFAF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391150" cy="40195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9E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0FC29-36D8-4159-9E7B-C33B9D0A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4D82C-7591-42DA-B258-CD02ED5E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245A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45A4C"/>
                </a:solidFill>
                <a:latin typeface="Microsoft YaHei"/>
                <a:ea typeface="Microsoft YaHei"/>
                <a:cs typeface="Microsoft YaHei"/>
              </a:rPr>
              <a:t>D1 完成：需求、输出协议、指标和许可证规则已落盘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245A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45A4C"/>
                </a:solidFill>
                <a:latin typeface="Microsoft YaHei"/>
                <a:ea typeface="Microsoft YaHei"/>
                <a:cs typeface="Microsoft YaHei"/>
              </a:rPr>
              <a:t>D2 完成：Git、VS Code、Python 包、配置和检查命令已建立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245A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45A4C"/>
                </a:solidFill>
                <a:latin typeface="Microsoft YaHei"/>
                <a:ea typeface="Microsoft YaHei"/>
                <a:cs typeface="Microsoft YaHei"/>
              </a:rPr>
              <a:t>环境检查：已识别 RTX 5060 Laptop GPU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245A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45A4C"/>
                </a:solidFill>
                <a:latin typeface="Microsoft YaHei"/>
                <a:ea typeface="Microsoft YaHei"/>
                <a:cs typeface="Microsoft YaHei"/>
              </a:rPr>
              <a:t>下一步：D3 下载数据并完成质量检查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128A1C-03D9-41B6-9C03-FB4F0DA8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A55"/>
                </a:solidFill>
                <a:latin typeface="Microsoft YaHei"/>
                <a:ea typeface="Microsoft YaHei"/>
                <a:cs typeface="Microsoft YaHei"/>
              </a:rPr>
              <a:t>保持三类别冻结，不在第一版扩展到六类。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12398-A51C-47D0-A92E-0E91F271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03</a:t>
            </a:r>
          </a:p>
        </p:txBody>
      </p:sp>
    </p:spTree>
    <p:extLst>
      <p:ext uri="{BB962C8B-B14F-4D97-AF65-F5344CB8AC3E}">
        <p14:creationId xmlns:p14="http://schemas.microsoft.com/office/powerpoint/2010/main" val="1866004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D6B67-2C95-48CD-ABE4-10962C1B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输出协议与验收指标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B5CFE-E472-43D6-BE9C-E288E68B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每个结果必须同时可检测、可分割、可量化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8FD3E-2141-4E19-AD01-54FA24A4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5717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E161B-0692-4A5D-BD3A-872C661A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3 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C8EAD-CF40-43EF-A15D-78D9896A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第一阶段病害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BB16E-743A-4FC0-8E73-24A0209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裂缝 / 剥落 / 钢筋裸露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FEE5A-B094-4204-918D-F3AED99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66850"/>
            <a:ext cx="25717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12950-3102-4917-89D5-65F26E3F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38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≤ 200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A15A6-5FBF-4F67-9C5D-4F7C0563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4K端到端P95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DBB46-02DB-4F17-9706-8F32032B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RTX 4090级别GPU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3955-E39F-46DD-9D90-6129C5B0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25717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BDE3E-DE51-4E6F-A90B-32EAEBC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≥ 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52C41-4400-45BF-B104-39820B5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检测与分割精度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2FC8A-C7B1-4939-8585-1C4105D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mAP / Mask IoU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2AFEF-DAFA-4397-8212-3E83E87F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66850"/>
            <a:ext cx="25717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479B0-DCF9-4C29-9B72-19E0F908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38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349B6-18A5-4D55-8FFB-BEE0002E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物理尺寸输出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D04D4-918B-4692-B873-5621D47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长度、P95宽度、比例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9ACA9-6F3E-463D-B5D8-0780762A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3340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2B46"/>
          </a:solidFill>
          <a:ln xmlns:a="http://schemas.openxmlformats.org/drawingml/2006/main" w="9525">
            <a:solidFill>
              <a:srgbClr val="112B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D092D-F793-4B90-88B2-19AD05BA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64D0C-D4FF-41A2-B570-9AD9DE35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rPr>
              <a:t>class_key  ·  confidence  ·  bbox_xyxy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rPr>
              <a:t>mask_path  ·  length_mm  ·  width_mm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rPr>
              <a:t>scale_mm_per_pixel  ·  timing_ms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E7F3"/>
                </a:solidFill>
                <a:latin typeface="Microsoft YaHei"/>
                <a:ea typeface="Microsoft YaHei"/>
                <a:cs typeface="Microsoft YaHei"/>
              </a:rPr>
              <a:t>defects[]  ·  model_version  ·  config_version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2B2ED5-8A1B-42D6-8DDB-F751BCF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3340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0B2B8-BAC6-471D-89E3-62A48CA5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评测口径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979D3-6565-4D26-8D58-7AFC9BEF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624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100"/>
              </a:spcAft>
              <a:buNone/>
              <a:defRPr sz="105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检测：mAP@0.5、mAP@0.5:0.95、Precision、Recall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100"/>
              </a:spcAft>
              <a:buNone/>
              <a:defRPr sz="105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分割：Mask IoU、Dice、Boundary F1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100"/>
              </a:spcAft>
              <a:buNone/>
              <a:defRPr sz="105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量化：长度MAPE ≤10%、宽度MAPE ≤15%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100"/>
              </a:spcAft>
              <a:buNone/>
              <a:defRPr sz="105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性能：预处理、推理、后处理和量化分项计时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2B61D-06A0-4B25-B948-85485480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04</a:t>
            </a:r>
          </a:p>
        </p:txBody>
      </p:sp>
    </p:spTree>
    <p:extLst>
      <p:ext uri="{BB962C8B-B14F-4D97-AF65-F5344CB8AC3E}">
        <p14:creationId xmlns:p14="http://schemas.microsoft.com/office/powerpoint/2010/main" val="386914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2019C-2E58-47B2-A944-BB42E3ED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系统技术架构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C5F1A-1519-42BA-9215-E2674E6A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从原始图像到可视化与结构化结果的完整链路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4A0FC-71B0-48BF-87BE-3210030D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619250" cy="2400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80305-1776-41C0-9F0E-3855C233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3BF6B-8016-404B-AB79-496021EE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37D6E-C843-42FB-A578-F68C3A80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图片 / 视频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批量清单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06636-DD63-4C9F-BEAE-B325E619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A277D-A4F0-414B-9E83-46342AA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1619250" cy="2400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7058C-938E-40D8-A1C2-C9F10504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431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8A9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8A9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D13AD-CD69-48EE-BBDF-C846D887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预处理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26CBA-FE96-4767-BF32-DD33D4A0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去噪 / 光照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4K切块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B0FEA-06C6-44CB-8C73-9B7681C1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004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E94CB-012E-4FC5-BF7E-7F2CBA9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1619250" cy="2400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12B46"/>
          </a:solidFill>
          <a:ln xmlns:a="http://schemas.openxmlformats.org/drawingml/2006/main" w="9525">
            <a:solidFill>
              <a:srgbClr val="112B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4B502-DC20-4CE9-91F7-45E97717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B9D7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D7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3C217-5B0C-4CF4-9157-7BD0084E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检测分割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18188-5F7A-4219-A66D-CC6C5B03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D7E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E7F5"/>
                </a:solidFill>
                <a:latin typeface="Microsoft YaHei"/>
                <a:ea typeface="Microsoft YaHei"/>
                <a:cs typeface="Microsoft YaHei"/>
              </a:rPr>
              <a:t>YOLO-seg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D7E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E7F5"/>
                </a:solidFill>
                <a:latin typeface="Microsoft YaHei"/>
                <a:ea typeface="Microsoft YaHei"/>
                <a:cs typeface="Microsoft YaHei"/>
              </a:rPr>
              <a:t>多尺度特征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035E6-84D3-4366-BC5E-7D01C56E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A25E3-6FCB-4732-9AF4-5D598B04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619250" cy="2400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A8413-4C2B-4C77-B45D-D7B935F1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CC857-4AB7-462D-A63A-2A9EB9AC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后处理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23FD5-F30D-4369-AEBB-90EDBCFB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NMS / 拼图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Mask清理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F7BFC-EF60-4C3F-842C-D4A971A3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04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26C9A-DFF3-4DD1-B38D-D7047963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1619250" cy="2400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B038D-ADC1-400D-B145-4DB8C24F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C8A0B-6F8A-4FF4-B1A1-262C4AC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尺寸量化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79274-AF18-41B9-BD07-80C4E009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骨架化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长度 / 宽度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A37C4-54AE-42EE-B6D9-54088E4C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04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502516-229C-47BE-94DF-9C45A2E2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95500"/>
            <a:ext cx="1619250" cy="2400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107010-C1B0-460A-96C1-DDD41DC7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431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C94E3E-1DFE-44D3-ACAB-E02206CF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43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E59C0-365B-4891-B1ED-9E17B0E7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337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JSON / Mask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14A18-A9B8-43F2-A519-C99C31A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C8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88E6B6-007E-4A08-80AC-47B43130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关键原则：先让检测、分割和量化跑通，再做4K性能优化；模型与后处理都保留版本和配置记录。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1477C-C8F4-46EA-89C8-C33FD608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05</a:t>
            </a:r>
          </a:p>
        </p:txBody>
      </p:sp>
    </p:spTree>
    <p:extLst>
      <p:ext uri="{BB962C8B-B14F-4D97-AF65-F5344CB8AC3E}">
        <p14:creationId xmlns:p14="http://schemas.microsoft.com/office/powerpoint/2010/main" val="1564342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FA2C3-5739-465E-B82E-7C839EAB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数据策略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F1C67-24FA-4942-A64E-3595951C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用公开数据建立基线，用自采数据补齐A17场景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1809750"/>
                <a:gridCol w="1619250"/>
                <a:gridCol w="3429000"/>
                <a:gridCol w="41148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标注/规模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许可与使用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GYU-DET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检测主数据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11123张，6类桥梁病害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 BY 4.0；检测框，不含Mask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dacl10k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分割主数据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约1万张，19类；含13类病害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官方为非商业许可，提交前复核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CrackSeg9k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分割预训练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9255张，二值裂缝Mask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CC0；跨场景预训练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Mendeley裂缝分割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高分辨率补充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458张，高分辨率二值Mask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 BY 4.0；适合细裂缝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自采桥梁数据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领域适配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建议800至1500张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由项目组自行标注和校准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CBB5F-AC3A-43CC-82D8-F7C1F9C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类别统一：crack、spalling、exposed_rebar；按桥梁或拍摄批次切分，禁止相邻帧泄漏。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56F73-30CB-4CC9-B140-43069B5D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06</a:t>
            </a:r>
          </a:p>
        </p:txBody>
      </p:sp>
    </p:spTree>
    <p:extLst>
      <p:ext uri="{BB962C8B-B14F-4D97-AF65-F5344CB8AC3E}">
        <p14:creationId xmlns:p14="http://schemas.microsoft.com/office/powerpoint/2010/main" val="2020794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9A5FF-6DAE-4DDB-BC7E-8D5A6ACF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模型与训练方案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FA12D-4402-4823-A1B0-21BACFEA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以可部署的一阶段分割模型为主线，Transformer作为对照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98557-D8F1-4F6D-9092-86D578FB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429000" cy="4038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180F8-5938-44E2-A9F6-CF58D19A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5AD2A-9F69-4BC3-B43F-CCD5BB52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76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YOLO11-seg或YOLOv8-seg作为主基线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Mask R-CNN作为高精度对照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Swin Transformer用于分割结构对比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先在1024或1280切块上跑通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46DFB-230C-45F4-B236-95B4CF81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66850"/>
            <a:ext cx="7315200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FBC5F-3359-4E43-AC3D-E8E6D60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526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针对A17的四项改进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09E07-041D-4ADF-889A-DA885C34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C6DC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A967F-19DD-4747-A1AC-1F6A910F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95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P2小目标层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4AAF6-B30D-4FC7-9CCA-FFAFC891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补足细裂缝和远距离小目标特征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B9237-BADE-40CE-8311-E1A50D5F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9E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EB05C-9C87-4DE1-B3BD-F6C5E24A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5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多尺度融合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269E4-D89F-4D37-95AF-56DF24EF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BiFPN或AFPN改善跨尺度表达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58D5C-F24F-4412-8E9A-F72D2F5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C6DC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B936D-37B9-4EAB-A280-31187BDF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边界损失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72FB7-8C5C-4CBD-8F5D-8B72B1C4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10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Dice + BCE + Boundary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A54B4-E159-4799-86DA-B90BB243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76650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9E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4B559-7E4B-4492-B132-9CA64D75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困难样本训练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3634B-E703-437D-92C0-22AD05D0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Focal、Tversky和类别重采样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80A17-1D81-4169-9016-6F5178EF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07</a:t>
            </a:r>
          </a:p>
        </p:txBody>
      </p:sp>
    </p:spTree>
    <p:extLst>
      <p:ext uri="{BB962C8B-B14F-4D97-AF65-F5344CB8AC3E}">
        <p14:creationId xmlns:p14="http://schemas.microsoft.com/office/powerpoint/2010/main" val="205452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89CBB0-4211-4C26-8827-002E134D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实现流程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3B383-B5EE-445C-B0B4-EF0396AD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八个阶段形成可复现的工程闭环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00F10-7761-42B6-8058-CE4AD22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3812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D1F4D-6189-4337-A2F5-F7C7714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B4D87-34B9-4483-9898-E6EB1BFB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需求冻结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2B1F3-5761-4F7F-BCFC-EE87E7EF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5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类别、字段、指标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83746-BCF3-4235-9611-8EBA0A12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16AAA-589E-4243-AC11-8FA696A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23812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5753-5B94-4831-ADD2-16C1E0FE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CBE29-8256-41D3-B3CB-2B5071B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F7FFA-9AC2-4823-984B-5B867C23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5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映射、清洗、划分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B4F6C-06E1-4494-BD77-B59864C3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21771-85D7-492A-8E47-4A3965C3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23812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3FC1B-CC95-46A9-BD91-B8730B65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97AE0-4BEA-4A74-8562-8F3750D4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基线模型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254E3-0AAE-4984-8182-CC251242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5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检测 + 分割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BD055-431D-48D4-B803-8999C9E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C4"/>
          </a:solidFill>
          <a:ln xmlns:a="http://schemas.openxmlformats.org/drawingml/2006/main" w="0">
            <a:solidFill>
              <a:srgbClr val="2F78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38C27-7492-4109-8AC2-4E496F60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3812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CEACD-0E0A-4E4E-8E05-9E007471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E7B4D-1F9E-49F1-B5C9-C9B69491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模型改进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F23C6-7F20-40B1-BC0C-08625D8F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5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小目标 + 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9A4CA-9991-4390-A317-B4737853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3812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C7745-67E5-42AF-ABB9-4E9EFEBE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7E3BFE-19A8-4E3F-9DE9-EC4B7EB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物理量化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49879-584B-40A8-B65F-ADCDA3E0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长度 + 宽度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B7041F-B70D-45D3-9D7A-C944A8BC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767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9D7A"/>
          </a:solidFill>
          <a:ln xmlns:a="http://schemas.openxmlformats.org/drawingml/2006/main" w="0">
            <a:solidFill>
              <a:srgbClr val="1E9D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6E033-2ED3-491E-8B0E-FEB5D1E5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23812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6518A-0E7D-4525-B031-E6E97B91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DB4B44-91B4-4533-B3A1-44BD98E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性能优化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750E2D-0000-451B-834D-3F29303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33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TensorRT + FP16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5ED364-4BE0-412D-806F-7B7EAEFA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9D7A"/>
          </a:solidFill>
          <a:ln xmlns:a="http://schemas.openxmlformats.org/drawingml/2006/main" w="0">
            <a:solidFill>
              <a:srgbClr val="1E9D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B9B8CA-9347-45A2-801D-46F0580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23812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E3CB4-8642-4F26-842E-0A0458EE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15FE67-BA32-4DDF-99F6-ED60915B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系统集成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A4FA68-3BEC-4BDB-9C16-1C03C90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33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图片 + 视频 + 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ECE4CB-D775-465D-A31C-740632E3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9D7A"/>
          </a:solidFill>
          <a:ln xmlns:a="http://schemas.openxmlformats.org/drawingml/2006/main" w="0">
            <a:solidFill>
              <a:srgbClr val="1E9D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08FCAD-4CD8-49F7-844C-C5DF4F1A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23812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5CAE1-CA29-458C-8398-787AC531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3BEA34-37D8-44BD-A5E8-E3511BDB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实验提交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0C3C1F-B62D-4677-9464-155542D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33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报告 + PPT + 视频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8F6AB5-17F9-4608-9B73-366BC51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每个阶段都必须有数据、代码、指标和可复现实验记录。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B9334D-7B3A-4224-B20F-0962582E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08</a:t>
            </a:r>
          </a:p>
        </p:txBody>
      </p:sp>
    </p:spTree>
    <p:extLst>
      <p:ext uri="{BB962C8B-B14F-4D97-AF65-F5344CB8AC3E}">
        <p14:creationId xmlns:p14="http://schemas.microsoft.com/office/powerpoint/2010/main" val="641010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21427-8FC3-4DC7-9848-C28414D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病害尺寸量化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DD91C-504B-4283-BC79-B07225DF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从像素Mask推导可追溯的物理长度与宽度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6DD8B-A2A9-4DC0-BF1D-E44DC7A8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32621-6736-460E-ADA6-26F75928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像素比例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F74D3-31B2-4564-96C8-E8F290DC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971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mm_per_pixel =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飞行高度 × 传感器像素尺寸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÷ 焦距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E440A-8BF3-4EC3-AECB-AD03E09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4290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30D36-5AFE-412A-A7E3-C894F888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9D7A"/>
                </a:solidFill>
                <a:latin typeface="Microsoft YaHei"/>
                <a:ea typeface="Microsoft YaHei"/>
                <a:cs typeface="Microsoft YaHei"/>
              </a:rPr>
              <a:t>长度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65E21-FAEC-40D6-860F-44CC127E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971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Mask骨架化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去短分支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求最长路径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4CE48-28DB-4F06-BDAD-F13987D9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4290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0524A-0C9B-4F90-BDD0-A4E8F393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最大宽度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FC34C-055E-467B-8D86-607FD89B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971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沿骨架取正交截面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距离变换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输出P95宽度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8CD49-6208-4755-958C-F7B7C833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2B46"/>
          </a:solidFill>
          <a:ln xmlns:a="http://schemas.openxmlformats.org/drawingml/2006/main" w="9525">
            <a:solidFill>
              <a:srgbClr val="112B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60761-4FEB-4AC1-9248-C1F29915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验收：长度MAPE ≤10%  ·  宽度MAPE ≤15%  ·  重复性波动 ≤5%  ·  每个结果可回到原图和标定参数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28AC6-D5D2-402C-88A0-FEFC2163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09</a:t>
            </a:r>
          </a:p>
        </p:txBody>
      </p:sp>
    </p:spTree>
    <p:extLst>
      <p:ext uri="{BB962C8B-B14F-4D97-AF65-F5344CB8AC3E}">
        <p14:creationId xmlns:p14="http://schemas.microsoft.com/office/powerpoint/2010/main" val="1769105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7383F-1CCD-475E-BB4B-D404470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系统Demo与交付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A75B5-EAD2-470B-BBCE-06A980C0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让结果既能看懂，也能被下游系统使用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32A64-268C-419E-B75A-7A7FADCD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429250" cy="3848100"/>
          </a:xfrm>
          <a:prstGeom xmlns:a="http://schemas.openxmlformats.org/drawingml/2006/main" prst="roundRect">
            <a:avLst>
              <a:gd name="adj" fmla="val 4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A1A7C-E3C5-4A11-B65D-FDA5CB82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Demo能力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80B58-9DD3-4EA5-A9C5-FDEE4F6F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667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单张图片、批量目录和视频输入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显示类别、置信度、检测框和Mask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显示长度、宽度和标定系数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导出PNG、JSON和CSV</a:t>
            </a:r>
          </a:p>
          <a:p xmlns:a="http://schemas.openxmlformats.org/drawingml/2006/main">
            <a:pPr marL="228600" indent="-114300">
              <a:lnSpc>
                <a:spcPct val="110000"/>
              </a:lnSpc>
              <a:spcAft>
                <a:spcPts val="1800"/>
              </a:spcAft>
              <a:buNone/>
              <a:def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支持模型版本和参数切换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CB437-40E9-40F5-A969-5B057B1E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257800" cy="3848100"/>
          </a:xfrm>
          <a:prstGeom xmlns:a="http://schemas.openxmlformats.org/drawingml/2006/main" prst="roundRect">
            <a:avLst>
              <a:gd name="adj" fmla="val 4455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C8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8707A-3DF5-444D-B1A5-8608E657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8C4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9A85E-B246-4E8F-8514-0E8212C9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代码仓库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2FB45-35B6-42B0-8073-D2BF6AA8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训练、推理、量化、Demo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40780-A170-4E26-8BA4-B7426A6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67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模型与权重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11493-8818-464E-A297-B7FF6CBF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版本、配置、复现实验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73CCB-F22C-4612-9DF4-4911889E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测试报告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BBB4B-EE89-44CE-9677-3F0C368D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类别、速度、鲁棒性、失败案例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041B7-71C1-4317-9950-766217A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62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项目材料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AA3F4-42C1-4CB3-8717-5E80992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概要、PPT、详细方案、演示视频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407DF-0C8F-4EE5-B419-FC34885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10</a:t>
            </a:r>
          </a:p>
        </p:txBody>
      </p:sp>
    </p:spTree>
    <p:extLst>
      <p:ext uri="{BB962C8B-B14F-4D97-AF65-F5344CB8AC3E}">
        <p14:creationId xmlns:p14="http://schemas.microsoft.com/office/powerpoint/2010/main" val="282955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A1961-041D-48A3-A269-8D74FA85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12周实施计划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9A20F-CE0F-41CF-8632-9E2E83E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以交付物和验收条件倒排项目节奏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1143000"/>
                <a:gridCol w="1238250"/>
                <a:gridCol w="4953000"/>
                <a:gridCol w="363855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周次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核心任务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里程碑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需求、数据、环境、划分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数据V1 + 基线工程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3-4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YOLO基线、4K切块、指标脚本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检测模型V0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5-6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分割基线、P2、多尺度、边界损失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分割模型V1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量化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7-8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骨架化、宽度计算、标定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量化模块V1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TensorRT、Demo、端到端测试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 P95 ≤200ms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11-12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实验报告、PPT、视频、复现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最终材料与代码冻结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D744-7E16-45B8-B882-B3027D8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每一周必须同时交付代码、数据或指标产物；上一周未通过验收则不进入下一阶段。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6D8B7-B35B-4848-9629-6844C2A7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11</a:t>
            </a:r>
          </a:p>
        </p:txBody>
      </p:sp>
    </p:spTree>
    <p:extLst>
      <p:ext uri="{BB962C8B-B14F-4D97-AF65-F5344CB8AC3E}">
        <p14:creationId xmlns:p14="http://schemas.microsoft.com/office/powerpoint/2010/main" val="9538351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C191F-BE51-40D7-BF02-592113C0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3人分工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196C6-128C-462A-84BA-B25F7F9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一人一条主线，接口在第三周前冻结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64795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1143000"/>
                <a:gridCol w="2571750"/>
                <a:gridCol w="3714750"/>
                <a:gridCol w="35433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核心职责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协作接口</a:t>
                      </a:r>
                    </a:p>
                  </a:txBody>
                  <a:tcPr marL="91440" marR="91440" marT="45720" marB="45720">
                    <a:solidFill>
                      <a:srgbClr val="112B4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数据、检测与评测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数据V1、检测模型、mAP报告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向B交付清洗数据和类别映射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B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分割、量化与标定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Mask模型、尺寸模块、量化报告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向C交付推理接口和字段定义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工程、部署、文档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切块、TensorRT、Demo、PPT和视频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1828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向A/B反馈性能瓶颈和复现问题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3E16E-03ED-46BA-A2CD-3E7146A3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429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59383-468C-4991-A77D-073B2605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A →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4F353-DF73-4661-96B4-3D03887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数据清单、类别映射、检测框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18C90-EC46-4EC7-9894-DB2F443B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3429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7CD15-6073-4D70-8EA1-CDEAC64D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B →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0CD34-D39C-4167-BD69-645399A9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57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Mask、尺寸结果、JSON协议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FD8C4-6DCD-4A3B-B870-951AFE01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429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7CFC7-3EF4-41EC-8C04-7160CF7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C → A/B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305CD-C68D-46D5-A2D9-72B96499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性能报告、问题复现、发布版本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176B0-9D2A-4AE9-B572-8AB5A22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12</a:t>
            </a:r>
          </a:p>
        </p:txBody>
      </p:sp>
    </p:spTree>
    <p:extLst>
      <p:ext uri="{BB962C8B-B14F-4D97-AF65-F5344CB8AC3E}">
        <p14:creationId xmlns:p14="http://schemas.microsoft.com/office/powerpoint/2010/main" val="21349523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85FD1-FBB5-4445-8126-C213208A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46"/>
                </a:solidFill>
                <a:latin typeface="Microsoft YaHei"/>
                <a:ea typeface="Microsoft YaHei"/>
                <a:cs typeface="Microsoft YaHei"/>
              </a:rPr>
              <a:t>风险控制与下一阶段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8D80F-2B0F-44A1-AB35-8CF002A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287"/>
                </a:solidFill>
                <a:latin typeface="Microsoft YaHei"/>
                <a:ea typeface="Microsoft YaHei"/>
                <a:cs typeface="Microsoft YaHei"/>
              </a:rPr>
              <a:t>先把高风险问题前置验证，再扩大工程范围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C4593-525B-4C6F-B808-A95E25F2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57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22449-88DF-4259-ACB7-53036DD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实例Mask不足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4B1E9-4C6D-4D91-A286-A6ACA93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dacl10k多边形转实例，自采数据补齐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D01CC-3198-45C9-A63D-C030AF8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257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F16CE-DFDC-4D29-B2F4-84EB6F92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物理标定缺失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0D500-D214-481D-B8E8-73926E1A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记录高度、焦距、传感器和云台参数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EF968-09BD-4875-9576-521057AF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57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F5112-A3C8-4CD9-8896-EED5550C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5B5B"/>
                </a:solidFill>
                <a:latin typeface="Microsoft YaHei"/>
                <a:ea typeface="Microsoft YaHei"/>
                <a:cs typeface="Microsoft YaHei"/>
              </a:rPr>
              <a:t>4K速度不达标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21A5C-FCAD-47C9-BD99-E0669AE4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切块并行、FP16、TensorRT和分项计时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0E239-E46D-4091-8F86-F4073793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5257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E4F09-CE3D-4AEE-971F-26B2F9BE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A18"/>
                </a:solidFill>
                <a:latin typeface="Microsoft YaHei"/>
                <a:ea typeface="Microsoft YaHei"/>
                <a:cs typeface="Microsoft YaHei"/>
              </a:rPr>
              <a:t>类别定义冲突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D18B2-80D2-4BC3-A58A-A789105E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83A"/>
                </a:solidFill>
                <a:latin typeface="Microsoft YaHei"/>
                <a:ea typeface="Microsoft YaHei"/>
                <a:cs typeface="Microsoft YaHei"/>
              </a:rPr>
              <a:t>冻结类别映射，版本化转换脚本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6F078-DBE9-4D91-B611-6E2BAF3B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112B46"/>
          </a:solidFill>
          <a:ln xmlns:a="http://schemas.openxmlformats.org/drawingml/2006/main" w="9525">
            <a:solidFill>
              <a:srgbClr val="112B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DB6E4-62CF-4106-B60F-F18329ED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下一阶段门槛：完成数据下载与质量统计，输出统一类别清单、训练/验证/测试划分和第一版基线指标。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84506-D6F4-4260-9D1E-C1FA1134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CA0"/>
                </a:solidFill>
                <a:latin typeface="Microsoft YaHei"/>
                <a:ea typeface="Microsoft YaHei"/>
                <a:cs typeface="Microsoft YaHei"/>
              </a:rPr>
              <a:t>A17 桥梁表观病害检测  |  13</a:t>
            </a:r>
          </a:p>
        </p:txBody>
      </p:sp>
    </p:spTree>
    <p:extLst>
      <p:ext uri="{BB962C8B-B14F-4D97-AF65-F5344CB8AC3E}">
        <p14:creationId xmlns:p14="http://schemas.microsoft.com/office/powerpoint/2010/main" val="81263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2026-09-29T06:11:37.1840000Z</dcterms:created>
  <dcterms:modified xsi:type="dcterms:W3CDTF">2026-09-29T06:11:37.1840000Z</dcterms:modified>
</coreProperties>
</file>